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4"/>
  </p:notesMasterIdLst>
  <p:sldIdLst>
    <p:sldId id="728" r:id="rId5"/>
    <p:sldId id="757" r:id="rId6"/>
    <p:sldId id="758" r:id="rId7"/>
    <p:sldId id="732" r:id="rId8"/>
    <p:sldId id="761" r:id="rId9"/>
    <p:sldId id="759" r:id="rId10"/>
    <p:sldId id="760" r:id="rId11"/>
    <p:sldId id="741" r:id="rId12"/>
    <p:sldId id="762" r:id="rId13"/>
    <p:sldId id="763" r:id="rId14"/>
    <p:sldId id="764" r:id="rId15"/>
    <p:sldId id="768" r:id="rId16"/>
    <p:sldId id="769" r:id="rId17"/>
    <p:sldId id="770" r:id="rId18"/>
    <p:sldId id="771" r:id="rId19"/>
    <p:sldId id="756" r:id="rId20"/>
    <p:sldId id="765" r:id="rId21"/>
    <p:sldId id="766" r:id="rId22"/>
    <p:sldId id="76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F9AB1"/>
    <a:srgbClr val="61B0B6"/>
    <a:srgbClr val="38A9B1"/>
    <a:srgbClr val="3FB9C1"/>
    <a:srgbClr val="A758C4"/>
    <a:srgbClr val="694CC6"/>
    <a:srgbClr val="7253D4"/>
    <a:srgbClr val="A053B9"/>
    <a:srgbClr val="6248B3"/>
    <a:srgbClr val="C675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04" autoAdjust="0"/>
    <p:restoredTop sz="85568" autoAdjust="0"/>
  </p:normalViewPr>
  <p:slideViewPr>
    <p:cSldViewPr snapToGrid="0">
      <p:cViewPr>
        <p:scale>
          <a:sx n="84" d="100"/>
          <a:sy n="84" d="100"/>
        </p:scale>
        <p:origin x="2136" y="1208"/>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・セブンイレブンの対応を考えることがメインだということ（他は比較対象）</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伝えないといけにこと、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12347893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・若年層の問題について</a:t>
            </a:r>
            <a:endParaRPr kumimoji="1" lang="en-US" altLang="ja-JP" dirty="0"/>
          </a:p>
          <a:p>
            <a:r>
              <a:rPr kumimoji="1" lang="ja-JP" altLang="en-US"/>
              <a:t>・他社でも同様の傾向であること</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1469231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原因分析は、１点目について行うことをのべる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ボトルネックの特定</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・あらためて問題点を提示</a:t>
            </a:r>
            <a:endParaRPr kumimoji="1" lang="en-US" altLang="ja-JP" dirty="0"/>
          </a:p>
          <a:p>
            <a:r>
              <a:rPr kumimoji="1" lang="ja-JP" altLang="en-US"/>
              <a:t>・なぜこれが生じるのか？</a:t>
            </a:r>
            <a:br>
              <a:rPr kumimoji="1" lang="en-US" altLang="ja-JP" dirty="0"/>
            </a:br>
            <a:r>
              <a:rPr kumimoji="1" lang="ja-JP" altLang="en-US"/>
              <a:t>・購買記録数は二つの要素から構成されること</a:t>
            </a:r>
            <a:endParaRPr kumimoji="1" lang="en-US" altLang="ja-JP" dirty="0"/>
          </a:p>
          <a:p>
            <a:r>
              <a:rPr kumimoji="1" lang="ja-JP" altLang="en-US"/>
              <a:t>・どちらが強く起因しているのか？</a:t>
            </a:r>
            <a:endParaRPr kumimoji="1" lang="en-US" altLang="ja-JP" dirty="0"/>
          </a:p>
          <a:p>
            <a:r>
              <a:rPr kumimoji="1" lang="ja-JP" altLang="en-US"/>
              <a:t>・その結果</a:t>
            </a:r>
            <a:endParaRPr kumimoji="1" lang="en-US" altLang="ja-JP" dirty="0"/>
          </a:p>
          <a:p>
            <a:r>
              <a:rPr kumimoji="1" lang="ja-JP" altLang="en-US"/>
              <a:t>・ボトルネックの特定</a:t>
            </a:r>
            <a:endParaRPr kumimoji="1" lang="en-US" altLang="ja-JP" dirty="0"/>
          </a:p>
          <a:p>
            <a:endParaRPr kumimoji="1" lang="en-US" altLang="ja-JP" dirty="0"/>
          </a:p>
          <a:p>
            <a:r>
              <a:rPr kumimoji="1" lang="en-US" altLang="ja-JP" dirty="0"/>
              <a:t>※</a:t>
            </a:r>
            <a:r>
              <a:rPr kumimoji="1" lang="ja-JP" altLang="en-US"/>
              <a:t> シャープレイ分解については、軽くどういうものかを口頭で伝える程度にする</a:t>
            </a:r>
            <a:endParaRPr kumimoji="1" lang="en-US" altLang="ja-JP" dirty="0"/>
          </a:p>
          <a:p>
            <a:r>
              <a:rPr kumimoji="1" lang="ja-JP" altLang="en-US"/>
              <a:t>スライドには記載しない</a:t>
            </a:r>
            <a:endParaRPr kumimoji="1" lang="en-US" altLang="ja-JP" dirty="0"/>
          </a:p>
          <a:p>
            <a:r>
              <a:rPr kumimoji="1" lang="ja-JP" altLang="en-US"/>
              <a:t>計算式など詳細を求められたら、その時に初めて答える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12</a:t>
            </a:fld>
            <a:endParaRPr kumimoji="1" lang="ja-JP" altLang="en-US"/>
          </a:p>
        </p:txBody>
      </p:sp>
    </p:spTree>
    <p:extLst>
      <p:ext uri="{BB962C8B-B14F-4D97-AF65-F5344CB8AC3E}">
        <p14:creationId xmlns:p14="http://schemas.microsoft.com/office/powerpoint/2010/main" val="5011569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シャープレイ分解の補足</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13</a:t>
            </a:fld>
            <a:endParaRPr kumimoji="1" lang="ja-JP" altLang="en-US"/>
          </a:p>
        </p:txBody>
      </p:sp>
    </p:spTree>
    <p:extLst>
      <p:ext uri="{BB962C8B-B14F-4D97-AF65-F5344CB8AC3E}">
        <p14:creationId xmlns:p14="http://schemas.microsoft.com/office/powerpoint/2010/main" val="33045084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伝えなければならないこと、</a:t>
            </a:r>
            <a:endParaRPr kumimoji="1" lang="en-US" altLang="ja-JP" dirty="0"/>
          </a:p>
          <a:p>
            <a:r>
              <a:rPr kumimoji="1" lang="ja-JP" altLang="en-US"/>
              <a:t>・なぜ、購入した経験のある人がすくないのか？</a:t>
            </a:r>
            <a:endParaRPr kumimoji="1" lang="en-US" altLang="ja-JP" dirty="0"/>
          </a:p>
          <a:p>
            <a:r>
              <a:rPr kumimoji="1" lang="ja-JP" altLang="en-US"/>
              <a:t>・購入した経験のある人とそうでない人には、どんな違いがあるのか？</a:t>
            </a:r>
            <a:endParaRPr kumimoji="1" lang="en-US" altLang="ja-JP" dirty="0"/>
          </a:p>
          <a:p>
            <a:r>
              <a:rPr kumimoji="1" lang="ja-JP" altLang="en-US"/>
              <a:t>・二群に分けて、「普段（対応商品に限らず）どのような食品をセブンイレブンで購入しているか」という志向性の違いを明らかにする</a:t>
            </a:r>
            <a:endParaRPr kumimoji="1" lang="en-US" altLang="ja-JP" dirty="0"/>
          </a:p>
          <a:p>
            <a:r>
              <a:rPr kumimoji="1" lang="ja-JP" altLang="en-US"/>
              <a:t>・食事補完型、完結型の説明</a:t>
            </a:r>
            <a:endParaRPr kumimoji="1" lang="en-US" altLang="ja-JP" dirty="0"/>
          </a:p>
          <a:p>
            <a:r>
              <a:rPr kumimoji="1" lang="ja-JP" altLang="en-US"/>
              <a:t>・図の読み方</a:t>
            </a:r>
            <a:endParaRPr kumimoji="1" lang="en-US" altLang="ja-JP" dirty="0"/>
          </a:p>
          <a:p>
            <a:r>
              <a:rPr kumimoji="1" lang="ja-JP" altLang="en-US"/>
              <a:t>・「対応」商品を購入した経験のある人は、そうでない人と比べて、「食事を補う」ような商品を強く求める傾向にある</a:t>
            </a:r>
            <a:endParaRPr kumimoji="1" lang="en-US" altLang="ja-JP" dirty="0"/>
          </a:p>
          <a:p>
            <a:r>
              <a:rPr kumimoji="1" lang="ja-JP" altLang="en-US"/>
              <a:t>・翻せば、普段からセブンイレブンに対して、「食事を補う」ような商品を強く求める人は、「対応」商品を購入しない傾向にある</a:t>
            </a:r>
            <a:endParaRPr kumimoji="1" lang="en-US" altLang="ja-JP" dirty="0"/>
          </a:p>
          <a:p>
            <a:r>
              <a:rPr kumimoji="1" lang="ja-JP" altLang="en-US"/>
              <a:t>・なぜ？</a:t>
            </a:r>
            <a:endParaRPr kumimoji="1" lang="en-US" altLang="ja-JP" dirty="0"/>
          </a:p>
          <a:p>
            <a:r>
              <a:rPr kumimoji="1" lang="ja-JP" altLang="en-US"/>
              <a:t>・「食事を補う」ような「対応」商品が少ないから</a:t>
            </a:r>
            <a:endParaRPr kumimoji="1" lang="en-US" altLang="ja-JP" dirty="0"/>
          </a:p>
          <a:p>
            <a:r>
              <a:rPr kumimoji="1" lang="ja-JP" altLang="en-US"/>
              <a:t>・選択肢になりにくく、購入されにくい傾向につながる</a:t>
            </a:r>
            <a:endParaRPr kumimoji="1" lang="en-US" altLang="ja-JP" dirty="0"/>
          </a:p>
          <a:p>
            <a:endParaRPr kumimoji="1" lang="en-US" altLang="ja-JP" dirty="0"/>
          </a:p>
          <a:p>
            <a:r>
              <a:rPr kumimoji="1" lang="ja-JP" altLang="en-US"/>
              <a:t>（最後が大事）</a:t>
            </a:r>
            <a:endParaRPr kumimoji="1" lang="en-US" altLang="ja-JP" dirty="0"/>
          </a:p>
          <a:p>
            <a:r>
              <a:rPr kumimoji="1" lang="ja-JP" altLang="en-US"/>
              <a:t>・若年層が求める「食事を補う」という役割と、セブンイレブンの「対応」商品の構成が一致していない</a:t>
            </a:r>
            <a:endParaRPr kumimoji="1" lang="en-US" altLang="ja-JP" dirty="0"/>
          </a:p>
          <a:p>
            <a:r>
              <a:rPr kumimoji="1" lang="ja-JP" altLang="en-US"/>
              <a:t>・この乖離が、若年層における「対応」商品の購入を妨げ、購入経験者の割合が低下し、購買記録数の少なさに繋がっていると考えられる</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14</a:t>
            </a:fld>
            <a:endParaRPr kumimoji="1" lang="ja-JP" altLang="en-US"/>
          </a:p>
        </p:txBody>
      </p:sp>
    </p:spTree>
    <p:extLst>
      <p:ext uri="{BB962C8B-B14F-4D97-AF65-F5344CB8AC3E}">
        <p14:creationId xmlns:p14="http://schemas.microsoft.com/office/powerpoint/2010/main" val="3016890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問題特定｜方針と結果</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原因分析｜ボトルネックの特定</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1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原因分析｜詳細な要因</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62804982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施策立案｜今後の方針</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slideLayout" Target="../slideLayouts/slideLayout89.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35" Type="http://schemas.openxmlformats.org/officeDocument/2006/relationships/theme" Target="../theme/theme4.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814" r:id="rId20"/>
    <p:sldLayoutId id="2147483797" r:id="rId21"/>
    <p:sldLayoutId id="2147483791" r:id="rId22"/>
    <p:sldLayoutId id="2147483799" r:id="rId23"/>
    <p:sldLayoutId id="2147483775" r:id="rId24"/>
    <p:sldLayoutId id="2147483776" r:id="rId25"/>
    <p:sldLayoutId id="2147483777" r:id="rId26"/>
    <p:sldLayoutId id="2147483778" r:id="rId27"/>
    <p:sldLayoutId id="2147483779" r:id="rId28"/>
    <p:sldLayoutId id="2147483780" r:id="rId29"/>
    <p:sldLayoutId id="2147483781" r:id="rId30"/>
    <p:sldLayoutId id="2147483782" r:id="rId31"/>
    <p:sldLayoutId id="2147483783" r:id="rId32"/>
    <p:sldLayoutId id="2147483784" r:id="rId33"/>
    <p:sldLayoutId id="2147483785" r:id="rId34"/>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981993" y="2465593"/>
            <a:ext cx="8228014" cy="111804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3740"/>
              </a:lnSpc>
              <a:defRPr/>
            </a:pPr>
            <a:r>
              <a:rPr lang="ja-JP" altLang="en-US" sz="28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28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6438939" y="3984661"/>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中間報告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2026. 9.11</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98224D2-05F3-9BC2-D489-629CF8DDB0FA}"/>
              </a:ext>
            </a:extLst>
          </p:cNvPr>
          <p:cNvSpPr txBox="1"/>
          <p:nvPr/>
        </p:nvSpPr>
        <p:spPr>
          <a:xfrm>
            <a:off x="362911" y="546653"/>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本プロジェクトの目的</a:t>
            </a:r>
            <a:endParaRPr lang="en-US" altLang="ja-JP" b="1" spc="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950511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3701515306"/>
              </p:ext>
            </p:extLst>
          </p:nvPr>
        </p:nvGraphicFramePr>
        <p:xfrm>
          <a:off x="479786" y="2000060"/>
          <a:ext cx="11232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828000">
                  <a:extLst>
                    <a:ext uri="{9D8B030D-6E8A-4147-A177-3AD203B41FA5}">
                      <a16:colId xmlns:a16="http://schemas.microsoft.com/office/drawing/2014/main" val="438668555"/>
                    </a:ext>
                  </a:extLst>
                </a:gridCol>
                <a:gridCol w="828000">
                  <a:extLst>
                    <a:ext uri="{9D8B030D-6E8A-4147-A177-3AD203B41FA5}">
                      <a16:colId xmlns:a16="http://schemas.microsoft.com/office/drawing/2014/main" val="2919575761"/>
                    </a:ext>
                  </a:extLst>
                </a:gridCol>
                <a:gridCol w="828000">
                  <a:extLst>
                    <a:ext uri="{9D8B030D-6E8A-4147-A177-3AD203B41FA5}">
                      <a16:colId xmlns:a16="http://schemas.microsoft.com/office/drawing/2014/main" val="1144350997"/>
                    </a:ext>
                  </a:extLst>
                </a:gridCol>
                <a:gridCol w="828000">
                  <a:extLst>
                    <a:ext uri="{9D8B030D-6E8A-4147-A177-3AD203B41FA5}">
                      <a16:colId xmlns:a16="http://schemas.microsoft.com/office/drawing/2014/main" val="1451137205"/>
                    </a:ext>
                  </a:extLst>
                </a:gridCol>
                <a:gridCol w="828000">
                  <a:extLst>
                    <a:ext uri="{9D8B030D-6E8A-4147-A177-3AD203B41FA5}">
                      <a16:colId xmlns:a16="http://schemas.microsoft.com/office/drawing/2014/main" val="2718752441"/>
                    </a:ext>
                  </a:extLst>
                </a:gridCol>
                <a:gridCol w="828000">
                  <a:extLst>
                    <a:ext uri="{9D8B030D-6E8A-4147-A177-3AD203B41FA5}">
                      <a16:colId xmlns:a16="http://schemas.microsoft.com/office/drawing/2014/main" val="442164949"/>
                    </a:ext>
                  </a:extLst>
                </a:gridCol>
                <a:gridCol w="828000">
                  <a:extLst>
                    <a:ext uri="{9D8B030D-6E8A-4147-A177-3AD203B41FA5}">
                      <a16:colId xmlns:a16="http://schemas.microsoft.com/office/drawing/2014/main" val="2089924893"/>
                    </a:ext>
                  </a:extLst>
                </a:gridCol>
                <a:gridCol w="828000">
                  <a:extLst>
                    <a:ext uri="{9D8B030D-6E8A-4147-A177-3AD203B41FA5}">
                      <a16:colId xmlns:a16="http://schemas.microsoft.com/office/drawing/2014/main" val="458828466"/>
                    </a:ext>
                  </a:extLst>
                </a:gridCol>
                <a:gridCol w="828000">
                  <a:extLst>
                    <a:ext uri="{9D8B030D-6E8A-4147-A177-3AD203B41FA5}">
                      <a16:colId xmlns:a16="http://schemas.microsoft.com/office/drawing/2014/main" val="4068070795"/>
                    </a:ext>
                  </a:extLst>
                </a:gridCol>
                <a:gridCol w="828000">
                  <a:extLst>
                    <a:ext uri="{9D8B030D-6E8A-4147-A177-3AD203B41FA5}">
                      <a16:colId xmlns:a16="http://schemas.microsoft.com/office/drawing/2014/main" val="2879551554"/>
                    </a:ext>
                  </a:extLst>
                </a:gridCol>
                <a:gridCol w="828000">
                  <a:extLst>
                    <a:ext uri="{9D8B030D-6E8A-4147-A177-3AD203B41FA5}">
                      <a16:colId xmlns:a16="http://schemas.microsoft.com/office/drawing/2014/main" val="590640396"/>
                    </a:ext>
                  </a:extLst>
                </a:gridCol>
                <a:gridCol w="828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現：小さい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現：大きい</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現：中程度</a:t>
                      </a: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477051" y="1019042"/>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4710155"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4710155"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41824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130862"/>
            <a:ext cx="3949188" cy="1742578"/>
            <a:chOff x="780527" y="815945"/>
            <a:chExt cx="3949188" cy="1742578"/>
          </a:xfrm>
        </p:grpSpPr>
        <p:grpSp>
          <p:nvGrpSpPr>
            <p:cNvPr id="2" name="グループ化 1">
              <a:extLst>
                <a:ext uri="{FF2B5EF4-FFF2-40B4-BE49-F238E27FC236}">
                  <a16:creationId xmlns:a16="http://schemas.microsoft.com/office/drawing/2014/main" id="{4F3AB9AC-FC27-9A39-CBD2-C0EAD04D1D50}"/>
                </a:ext>
              </a:extLst>
            </p:cNvPr>
            <p:cNvGrpSpPr/>
            <p:nvPr/>
          </p:nvGrpSpPr>
          <p:grpSpPr>
            <a:xfrm>
              <a:off x="867672" y="1153711"/>
              <a:ext cx="3862043" cy="1404812"/>
              <a:chOff x="4699999" y="1333172"/>
              <a:chExt cx="3862043" cy="1404812"/>
            </a:xfrm>
          </p:grpSpPr>
          <p:sp>
            <p:nvSpPr>
              <p:cNvPr id="3" name="角丸四角形 2">
                <a:extLst>
                  <a:ext uri="{FF2B5EF4-FFF2-40B4-BE49-F238E27FC236}">
                    <a16:creationId xmlns:a16="http://schemas.microsoft.com/office/drawing/2014/main" id="{3E93BAB1-B33A-5470-D22A-5E9F27636749}"/>
                  </a:ext>
                </a:extLst>
              </p:cNvPr>
              <p:cNvSpPr/>
              <p:nvPr/>
            </p:nvSpPr>
            <p:spPr>
              <a:xfrm>
                <a:off x="4699999" y="1333172"/>
                <a:ext cx="3862043" cy="1404812"/>
              </a:xfrm>
              <a:prstGeom prst="roundRect">
                <a:avLst/>
              </a:prstGeom>
              <a:solidFill>
                <a:srgbClr val="F9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9EAA34C-179D-1E4A-D7D8-37675CB651D6}"/>
                  </a:ext>
                </a:extLst>
              </p:cNvPr>
              <p:cNvSpPr txBox="1"/>
              <p:nvPr/>
            </p:nvSpPr>
            <p:spPr>
              <a:xfrm>
                <a:off x="4774351" y="1436781"/>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0912175A-F35B-621B-70CB-7BFFE6C39996}"/>
                </a:ext>
              </a:extLst>
            </p:cNvPr>
            <p:cNvSpPr txBox="1"/>
            <p:nvPr/>
          </p:nvSpPr>
          <p:spPr>
            <a:xfrm>
              <a:off x="780527" y="815945"/>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6" name="グループ化 25">
            <a:extLst>
              <a:ext uri="{FF2B5EF4-FFF2-40B4-BE49-F238E27FC236}">
                <a16:creationId xmlns:a16="http://schemas.microsoft.com/office/drawing/2014/main" id="{A9320961-7F89-325F-7B0B-9F6E7FA7BD05}"/>
              </a:ext>
            </a:extLst>
          </p:cNvPr>
          <p:cNvGrpSpPr/>
          <p:nvPr/>
        </p:nvGrpSpPr>
        <p:grpSpPr>
          <a:xfrm>
            <a:off x="1261032" y="3178147"/>
            <a:ext cx="4692042" cy="1031745"/>
            <a:chOff x="332220" y="1333172"/>
            <a:chExt cx="4692042" cy="1031745"/>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33172"/>
              <a:ext cx="2220529"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5051"/>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096000" y="3178147"/>
            <a:ext cx="3756435" cy="1031745"/>
            <a:chOff x="5724757" y="3526738"/>
            <a:chExt cx="3756435" cy="1031745"/>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0959" y="3888946"/>
              <a:ext cx="2231712" cy="669537"/>
              <a:chOff x="1405799" y="3018504"/>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05799" y="3018504"/>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05799" y="334480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26738"/>
              <a:ext cx="3756435"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6" name="グループ化 5">
            <a:extLst>
              <a:ext uri="{FF2B5EF4-FFF2-40B4-BE49-F238E27FC236}">
                <a16:creationId xmlns:a16="http://schemas.microsoft.com/office/drawing/2014/main" id="{85165854-FDE6-4595-B1CD-A239E9050C2D}"/>
              </a:ext>
            </a:extLst>
          </p:cNvPr>
          <p:cNvGrpSpPr/>
          <p:nvPr/>
        </p:nvGrpSpPr>
        <p:grpSpPr>
          <a:xfrm>
            <a:off x="6096000" y="1130862"/>
            <a:ext cx="4036481" cy="1698400"/>
            <a:chOff x="5356901" y="1091065"/>
            <a:chExt cx="4036481" cy="1698400"/>
          </a:xfrm>
        </p:grpSpPr>
        <p:grpSp>
          <p:nvGrpSpPr>
            <p:cNvPr id="23" name="グループ化 22">
              <a:extLst>
                <a:ext uri="{FF2B5EF4-FFF2-40B4-BE49-F238E27FC236}">
                  <a16:creationId xmlns:a16="http://schemas.microsoft.com/office/drawing/2014/main" id="{B7D0F33D-6A4E-2132-A152-8CE824980E97}"/>
                </a:ext>
              </a:extLst>
            </p:cNvPr>
            <p:cNvGrpSpPr/>
            <p:nvPr/>
          </p:nvGrpSpPr>
          <p:grpSpPr>
            <a:xfrm>
              <a:off x="5370948" y="1440550"/>
              <a:ext cx="2220529" cy="1348915"/>
              <a:chOff x="5060174" y="757462"/>
              <a:chExt cx="2220529" cy="1348915"/>
            </a:xfrm>
          </p:grpSpPr>
          <p:sp>
            <p:nvSpPr>
              <p:cNvPr id="9" name="テキスト ボックス 8">
                <a:extLst>
                  <a:ext uri="{FF2B5EF4-FFF2-40B4-BE49-F238E27FC236}">
                    <a16:creationId xmlns:a16="http://schemas.microsoft.com/office/drawing/2014/main" id="{26FB4272-A04A-11A2-8E01-F533F9135852}"/>
                  </a:ext>
                </a:extLst>
              </p:cNvPr>
              <p:cNvSpPr txBox="1"/>
              <p:nvPr/>
            </p:nvSpPr>
            <p:spPr>
              <a:xfrm>
                <a:off x="5060174" y="757462"/>
                <a:ext cx="2220529" cy="333617"/>
              </a:xfrm>
              <a:prstGeom prst="rect">
                <a:avLst/>
              </a:prstGeom>
              <a:noFill/>
            </p:spPr>
            <p:txBody>
              <a:bodyPr wrap="square">
                <a:spAutoFit/>
              </a:bodyPr>
              <a:lstStyle/>
              <a:p>
                <a:pPr>
                  <a:lnSpc>
                    <a:spcPts val="2020"/>
                  </a:lnSpc>
                  <a:defRPr/>
                </a:pPr>
                <a:r>
                  <a:rPr kumimoji="1" lang="ja-JP" altLang="en-US" sz="1600" spc="40">
                    <a:solidFill>
                      <a:schemeClr val="bg2">
                        <a:lumMod val="25000"/>
                      </a:schemeClr>
                    </a:solidFill>
                    <a:latin typeface="源ノ角ゴシック JP" panose="020B0500000000000000" pitchFamily="34" charset="-128"/>
                    <a:ea typeface="源ノ角ゴシック JP" panose="020B0500000000000000" pitchFamily="34" charset="-128"/>
                  </a:rPr>
                  <a:t>比較対象</a:t>
                </a:r>
                <a:endParaRPr kumimoji="1" lang="en-US" altLang="ja-JP" sz="160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4" name="グループ化 13">
                <a:extLst>
                  <a:ext uri="{FF2B5EF4-FFF2-40B4-BE49-F238E27FC236}">
                    <a16:creationId xmlns:a16="http://schemas.microsoft.com/office/drawing/2014/main" id="{94E8617D-5FF7-542C-7069-3215F023D6E8}"/>
                  </a:ext>
                </a:extLst>
              </p:cNvPr>
              <p:cNvGrpSpPr/>
              <p:nvPr/>
            </p:nvGrpSpPr>
            <p:grpSpPr>
              <a:xfrm>
                <a:off x="5143112" y="1103774"/>
                <a:ext cx="2137591" cy="1002603"/>
                <a:chOff x="5005691" y="1101889"/>
                <a:chExt cx="2137591" cy="1002603"/>
              </a:xfrm>
            </p:grpSpPr>
            <p:sp>
              <p:nvSpPr>
                <p:cNvPr id="13" name="角丸四角形 12">
                  <a:extLst>
                    <a:ext uri="{FF2B5EF4-FFF2-40B4-BE49-F238E27FC236}">
                      <a16:creationId xmlns:a16="http://schemas.microsoft.com/office/drawing/2014/main" id="{8F2F86A2-A677-C37E-BB2F-F3EED9B7FFD5}"/>
                    </a:ext>
                  </a:extLst>
                </p:cNvPr>
                <p:cNvSpPr/>
                <p:nvPr/>
              </p:nvSpPr>
              <p:spPr>
                <a:xfrm>
                  <a:off x="5005691" y="1101889"/>
                  <a:ext cx="2137591" cy="1002603"/>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F7F7544-0FFB-8D99-21BA-AAEB8A5E56BC}"/>
                    </a:ext>
                  </a:extLst>
                </p:cNvPr>
                <p:cNvSpPr txBox="1"/>
                <p:nvPr/>
              </p:nvSpPr>
              <p:spPr>
                <a:xfrm>
                  <a:off x="5085178" y="1184607"/>
                  <a:ext cx="1916624" cy="766620"/>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4" name="テキスト ボックス 3">
              <a:extLst>
                <a:ext uri="{FF2B5EF4-FFF2-40B4-BE49-F238E27FC236}">
                  <a16:creationId xmlns:a16="http://schemas.microsoft.com/office/drawing/2014/main" id="{779DA406-B7C4-87B7-019E-F61696B3CC9F}"/>
                </a:ext>
              </a:extLst>
            </p:cNvPr>
            <p:cNvSpPr txBox="1"/>
            <p:nvPr/>
          </p:nvSpPr>
          <p:spPr>
            <a:xfrm>
              <a:off x="5356901" y="1091065"/>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514600"/>
            <a:ext cx="9486662" cy="1913080"/>
            <a:chOff x="1230210" y="4476192"/>
            <a:chExt cx="9486662" cy="1913080"/>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76192"/>
              <a:ext cx="2048767" cy="381323"/>
            </a:xfrm>
            <a:prstGeom prst="rect">
              <a:avLst/>
            </a:prstGeom>
            <a:noFill/>
          </p:spPr>
          <p:txBody>
            <a:bodyPr wrap="square">
              <a:spAutoFit/>
            </a:bodyPr>
            <a:lstStyle/>
            <a:p>
              <a:pPr>
                <a:lnSpc>
                  <a:spcPts val="2380"/>
                </a:lnSpc>
                <a:defRPr/>
              </a:pPr>
              <a:r>
                <a:rPr kumimoji="1" lang="ja-JP" altLang="en-US" sz="17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17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59365"/>
              <a:ext cx="9399517" cy="1529907"/>
              <a:chOff x="1301690" y="5009437"/>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09437"/>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34328"/>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1329339436"/>
              </p:ext>
            </p:extLst>
          </p:nvPr>
        </p:nvGraphicFramePr>
        <p:xfrm>
          <a:off x="502192" y="1507363"/>
          <a:ext cx="6984000" cy="4716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348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260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marT="1260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26175"/>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68445" y="6328197"/>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03462"/>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a:t>
            </a:r>
            <a:r>
              <a:rPr kumimoji="1" lang="ja-JP" altLang="en-US" sz="1450" u="sng" spc="20">
                <a:solidFill>
                  <a:srgbClr val="C00000"/>
                </a:solidFill>
                <a:latin typeface="源ノ角ゴシック JP" panose="020B0500000000000000" pitchFamily="34" charset="-128"/>
                <a:ea typeface="源ノ角ゴシック JP" panose="020B0500000000000000" pitchFamily="34" charset="-128"/>
              </a:rPr>
              <a:t>他社においても確認された</a:t>
            </a:r>
            <a:endParaRPr kumimoji="1" lang="en-US" altLang="ja-JP" sz="1450" u="sng" spc="2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292919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68738"/>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F8F9CEB-9208-BC35-6A01-B0C25A8346E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F1178628-0C2D-64BD-20AD-D3E80FC4DD3E}"/>
              </a:ext>
            </a:extLst>
          </p:cNvPr>
          <p:cNvGraphicFramePr>
            <a:graphicFrameLocks noGrp="1"/>
          </p:cNvGraphicFramePr>
          <p:nvPr>
            <p:extLst>
              <p:ext uri="{D42A27DB-BD31-4B8C-83A1-F6EECF244321}">
                <p14:modId xmlns:p14="http://schemas.microsoft.com/office/powerpoint/2010/main" val="452910201"/>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A2CC18A8-ABF3-1A32-8205-D70A83FBC98F}"/>
              </a:ext>
            </a:extLst>
          </p:cNvPr>
          <p:cNvGraphicFramePr>
            <a:graphicFrameLocks noGrp="1"/>
          </p:cNvGraphicFramePr>
          <p:nvPr>
            <p:extLst>
              <p:ext uri="{D42A27DB-BD31-4B8C-83A1-F6EECF244321}">
                <p14:modId xmlns:p14="http://schemas.microsoft.com/office/powerpoint/2010/main" val="127007689"/>
              </p:ext>
            </p:extLst>
          </p:nvPr>
        </p:nvGraphicFramePr>
        <p:xfrm>
          <a:off x="420509" y="4645415"/>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4695AC57-4FDC-18BE-2028-4D27FE3F5274}"/>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19208D39-3D34-DE3E-BA47-0F4B032A654B}"/>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CE1D2EFD-6BC5-3C41-1193-F478411C84D4}"/>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8F9DA2BC-5415-6095-CDB9-A02F23981A03}"/>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D5F922D9-0494-8471-B071-5025D0967CA0}"/>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F42FFF10-14BE-6736-C60B-A4E517B6784C}"/>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6670A60-243D-B077-E002-4BE2F43751A2}"/>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693ABEA6-92AC-0CA2-D3F9-EEBEBEA81C20}"/>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6B72AD0A-505B-4876-4F93-572370621702}"/>
              </a:ext>
            </a:extLst>
          </p:cNvPr>
          <p:cNvSpPr txBox="1"/>
          <p:nvPr/>
        </p:nvSpPr>
        <p:spPr>
          <a:xfrm>
            <a:off x="373529" y="2537138"/>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6E377507-CA21-8DF0-6FF4-4B0DC92D4ACA}"/>
              </a:ext>
            </a:extLst>
          </p:cNvPr>
          <p:cNvSpPr txBox="1"/>
          <p:nvPr/>
        </p:nvSpPr>
        <p:spPr>
          <a:xfrm>
            <a:off x="373529" y="426826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37688B8B-7BDF-B7B5-A3D5-8B62DD4D0D3F}"/>
              </a:ext>
            </a:extLst>
          </p:cNvPr>
          <p:cNvSpPr txBox="1"/>
          <p:nvPr/>
        </p:nvSpPr>
        <p:spPr>
          <a:xfrm>
            <a:off x="2586109" y="6132507"/>
            <a:ext cx="7019782"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AD229AE5-200D-5027-208E-4C63C5F296C3}"/>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E72A9432-F88B-9810-0B9A-1E98CD1E8AC0}"/>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E2F0582-B3D1-AACE-48C4-04A644FDD73C}"/>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F5826BF4-36C6-CD60-F744-C75F76DFE901}"/>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C8E03D0C-3C4B-F905-D808-78DC0A61605B}"/>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21319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8CA6D-EB94-87A4-B2A0-3B49EA09631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2733B25-BC1F-7BA6-DE69-815637B2EAD2}"/>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DEB243F7-D47E-483A-DB0F-60BC191FAE67}"/>
              </a:ext>
            </a:extLst>
          </p:cNvPr>
          <p:cNvGraphicFramePr>
            <a:graphicFrameLocks noGrp="1"/>
          </p:cNvGraphicFramePr>
          <p:nvPr>
            <p:extLst>
              <p:ext uri="{D42A27DB-BD31-4B8C-83A1-F6EECF244321}">
                <p14:modId xmlns:p14="http://schemas.microsoft.com/office/powerpoint/2010/main" val="4028545197"/>
              </p:ext>
            </p:extLst>
          </p:nvPr>
        </p:nvGraphicFramePr>
        <p:xfrm>
          <a:off x="420509" y="291144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CE4D44">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5D226054-24DD-E096-2F22-7E3489AC41EA}"/>
              </a:ext>
            </a:extLst>
          </p:cNvPr>
          <p:cNvGrpSpPr/>
          <p:nvPr/>
        </p:nvGrpSpPr>
        <p:grpSpPr>
          <a:xfrm>
            <a:off x="420509" y="1523112"/>
            <a:ext cx="4129710" cy="842369"/>
            <a:chOff x="408000" y="1066441"/>
            <a:chExt cx="4129710" cy="842369"/>
          </a:xfrm>
        </p:grpSpPr>
        <p:sp>
          <p:nvSpPr>
            <p:cNvPr id="10" name="正方形/長方形 9">
              <a:extLst>
                <a:ext uri="{FF2B5EF4-FFF2-40B4-BE49-F238E27FC236}">
                  <a16:creationId xmlns:a16="http://schemas.microsoft.com/office/drawing/2014/main" id="{E4C16E64-DB85-B6B1-1BBC-BA6A564DC845}"/>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40BBB2C4-3849-C0F5-F7BD-FD8F33743170}"/>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67D27D74-FEE4-662D-CB61-6EB607EEDF00}"/>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0B1361DB-69BD-2CBE-921B-CAD4E04B9403}"/>
              </a:ext>
            </a:extLst>
          </p:cNvPr>
          <p:cNvGrpSpPr/>
          <p:nvPr/>
        </p:nvGrpSpPr>
        <p:grpSpPr>
          <a:xfrm>
            <a:off x="8626734" y="2807699"/>
            <a:ext cx="3308742" cy="1946362"/>
            <a:chOff x="7368506" y="1236005"/>
            <a:chExt cx="3308742" cy="1946362"/>
          </a:xfrm>
        </p:grpSpPr>
        <p:sp>
          <p:nvSpPr>
            <p:cNvPr id="14" name="テキスト ボックス 13">
              <a:extLst>
                <a:ext uri="{FF2B5EF4-FFF2-40B4-BE49-F238E27FC236}">
                  <a16:creationId xmlns:a16="http://schemas.microsoft.com/office/drawing/2014/main" id="{C6EA6A6A-2AAE-61FD-09F1-E08A00A2AA8E}"/>
                </a:ext>
              </a:extLst>
            </p:cNvPr>
            <p:cNvSpPr txBox="1"/>
            <p:nvPr/>
          </p:nvSpPr>
          <p:spPr>
            <a:xfrm>
              <a:off x="7368506" y="1236005"/>
              <a:ext cx="3308742"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D72A80AE-63E8-6261-6448-AB07EBA861C9}"/>
                </a:ext>
              </a:extLst>
            </p:cNvPr>
            <p:cNvSpPr txBox="1"/>
            <p:nvPr/>
          </p:nvSpPr>
          <p:spPr>
            <a:xfrm>
              <a:off x="7471715" y="212874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7" name="テキスト ボックス 16">
            <a:extLst>
              <a:ext uri="{FF2B5EF4-FFF2-40B4-BE49-F238E27FC236}">
                <a16:creationId xmlns:a16="http://schemas.microsoft.com/office/drawing/2014/main" id="{1E2CA1AA-ECDD-2849-5E1A-0AA760461664}"/>
              </a:ext>
            </a:extLst>
          </p:cNvPr>
          <p:cNvSpPr txBox="1"/>
          <p:nvPr/>
        </p:nvSpPr>
        <p:spPr>
          <a:xfrm>
            <a:off x="373529" y="2534293"/>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A71B4500-A967-A5C4-E553-DB0722A99324}"/>
              </a:ext>
            </a:extLst>
          </p:cNvPr>
          <p:cNvSpPr txBox="1"/>
          <p:nvPr/>
        </p:nvSpPr>
        <p:spPr>
          <a:xfrm>
            <a:off x="2119631" y="6132506"/>
            <a:ext cx="7952738" cy="387863"/>
          </a:xfrm>
          <a:prstGeom prst="rect">
            <a:avLst/>
          </a:prstGeom>
          <a:noFill/>
        </p:spPr>
        <p:txBody>
          <a:bodyPr wrap="square">
            <a:spAutoFit/>
          </a:bodyPr>
          <a:lstStyle/>
          <a:p>
            <a:pPr>
              <a:lnSpc>
                <a:spcPts val="2480"/>
              </a:lnSpc>
              <a:defRPr/>
            </a:pPr>
            <a:r>
              <a:rPr kumimoji="1" lang="ja-JP" altLang="en-US"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pc="4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CDCF0BB-B53B-92F4-387F-950F2CAFD098}"/>
              </a:ext>
            </a:extLst>
          </p:cNvPr>
          <p:cNvSpPr txBox="1"/>
          <p:nvPr/>
        </p:nvSpPr>
        <p:spPr>
          <a:xfrm>
            <a:off x="4751207" y="2510855"/>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DA587192-2829-9C11-CE41-5132A1A7AC81}"/>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D93FE0CE-CF5B-B11F-5811-CAA285FA59F8}"/>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1D870C9B-0B2E-1F23-8FC5-94B96CE6553D}"/>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89A7799D-BF2E-E839-F7EC-A6F6D259C88B}"/>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F146F9A2-075F-8FA5-341D-D10AAECD4F68}"/>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698715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429000"/>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185868"/>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527829" y="1724997"/>
            <a:ext cx="6262394"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一方で、他社では若年層に対する「対応」の適切さが高い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212298"/>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a:t>
            </a:r>
            <a:r>
              <a:rPr kumimoji="1" lang="ja-JP" altLang="en-US" u="sng" spc="30">
                <a:solidFill>
                  <a:srgbClr val="C00000"/>
                </a:solidFill>
                <a:latin typeface="源ノ角ゴシック JP" panose="020B0500000000000000" pitchFamily="34" charset="-128"/>
                <a:ea typeface="源ノ角ゴシック JP" panose="020B0500000000000000" pitchFamily="34" charset="-128"/>
              </a:rPr>
              <a:t>他社と同程度の水準に追いつく必要がある</a:t>
            </a:r>
            <a:endParaRPr kumimoji="1" lang="en-US" altLang="ja-JP" u="sng" spc="30" dirty="0">
              <a:solidFill>
                <a:srgbClr val="C00000"/>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C296F68-BB08-57C7-579B-27A3C187EE5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39EACB03-8682-9E01-2627-BF70B8FD7854}"/>
              </a:ext>
            </a:extLst>
          </p:cNvPr>
          <p:cNvSpPr txBox="1"/>
          <p:nvPr/>
        </p:nvSpPr>
        <p:spPr>
          <a:xfrm>
            <a:off x="658631" y="1091280"/>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購買記録数を構成する２つの要素に分けて、ボトルネックを特定する</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30" name="グループ化 29">
            <a:extLst>
              <a:ext uri="{FF2B5EF4-FFF2-40B4-BE49-F238E27FC236}">
                <a16:creationId xmlns:a16="http://schemas.microsoft.com/office/drawing/2014/main" id="{53278605-6E03-E854-FC8F-73E7CC52B992}"/>
              </a:ext>
            </a:extLst>
          </p:cNvPr>
          <p:cNvGrpSpPr/>
          <p:nvPr/>
        </p:nvGrpSpPr>
        <p:grpSpPr>
          <a:xfrm>
            <a:off x="843324" y="2090614"/>
            <a:ext cx="10505352" cy="2168609"/>
            <a:chOff x="843324" y="2110616"/>
            <a:chExt cx="10505352" cy="2168609"/>
          </a:xfrm>
        </p:grpSpPr>
        <p:sp>
          <p:nvSpPr>
            <p:cNvPr id="25" name="正方形/長方形 24">
              <a:extLst>
                <a:ext uri="{FF2B5EF4-FFF2-40B4-BE49-F238E27FC236}">
                  <a16:creationId xmlns:a16="http://schemas.microsoft.com/office/drawing/2014/main" id="{A76ABE6E-8A32-2CBF-1114-981EB34522E0}"/>
                </a:ext>
              </a:extLst>
            </p:cNvPr>
            <p:cNvSpPr/>
            <p:nvPr/>
          </p:nvSpPr>
          <p:spPr>
            <a:xfrm>
              <a:off x="4439372" y="2110616"/>
              <a:ext cx="2482589" cy="1740947"/>
            </a:xfrm>
            <a:prstGeom prst="rect">
              <a:avLst/>
            </a:prstGeom>
            <a:solidFill>
              <a:srgbClr val="5485C4">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4600818-35B6-987B-CE79-20BF602A2D90}"/>
                </a:ext>
              </a:extLst>
            </p:cNvPr>
            <p:cNvSpPr/>
            <p:nvPr/>
          </p:nvSpPr>
          <p:spPr>
            <a:xfrm>
              <a:off x="7380100" y="2110616"/>
              <a:ext cx="2482589" cy="1740947"/>
            </a:xfrm>
            <a:prstGeom prst="rect">
              <a:avLst/>
            </a:prstGeom>
            <a:solidFill>
              <a:srgbClr val="C675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8BD53D45-E9FF-F7F6-3BAB-BBFDF0FBD101}"/>
                </a:ext>
              </a:extLst>
            </p:cNvPr>
            <p:cNvGrpSpPr/>
            <p:nvPr/>
          </p:nvGrpSpPr>
          <p:grpSpPr>
            <a:xfrm>
              <a:off x="843324" y="2237984"/>
              <a:ext cx="10505352" cy="2041241"/>
              <a:chOff x="843324" y="2237984"/>
              <a:chExt cx="10505352" cy="2041241"/>
            </a:xfrm>
          </p:grpSpPr>
          <p:grpSp>
            <p:nvGrpSpPr>
              <p:cNvPr id="24" name="グループ化 23">
                <a:extLst>
                  <a:ext uri="{FF2B5EF4-FFF2-40B4-BE49-F238E27FC236}">
                    <a16:creationId xmlns:a16="http://schemas.microsoft.com/office/drawing/2014/main" id="{01C8F9D9-AA4B-6225-53DF-F7499B756F89}"/>
                  </a:ext>
                </a:extLst>
              </p:cNvPr>
              <p:cNvGrpSpPr/>
              <p:nvPr/>
            </p:nvGrpSpPr>
            <p:grpSpPr>
              <a:xfrm>
                <a:off x="843324" y="2237984"/>
                <a:ext cx="10505352" cy="1508694"/>
                <a:chOff x="351256" y="2309236"/>
                <a:chExt cx="10505352" cy="1508694"/>
              </a:xfrm>
            </p:grpSpPr>
            <p:sp>
              <p:nvSpPr>
                <p:cNvPr id="6" name="テキスト ボックス 5">
                  <a:extLst>
                    <a:ext uri="{FF2B5EF4-FFF2-40B4-BE49-F238E27FC236}">
                      <a16:creationId xmlns:a16="http://schemas.microsoft.com/office/drawing/2014/main" id="{BD77A734-2324-5837-76E0-64C72C6CE79E}"/>
                    </a:ext>
                  </a:extLst>
                </p:cNvPr>
                <p:cNvSpPr txBox="1"/>
                <p:nvPr/>
              </p:nvSpPr>
              <p:spPr>
                <a:xfrm>
                  <a:off x="351256" y="2872356"/>
                  <a:ext cx="3596048" cy="352019"/>
                </a:xfrm>
                <a:prstGeom prst="rect">
                  <a:avLst/>
                </a:prstGeom>
                <a:noFill/>
              </p:spPr>
              <p:txBody>
                <a:bodyPr wrap="square">
                  <a:spAutoFit/>
                </a:bodyPr>
                <a:lstStyle/>
                <a:p>
                  <a:pP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CFF2B7A-7D87-224F-8565-8C411B0AB13A}"/>
                    </a:ext>
                  </a:extLst>
                </p:cNvPr>
                <p:cNvSpPr txBox="1"/>
                <p:nvPr/>
              </p:nvSpPr>
              <p:spPr>
                <a:xfrm>
                  <a:off x="3534342" y="2910240"/>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nvGrpSpPr>
                <p:cNvPr id="22" name="グループ化 21">
                  <a:extLst>
                    <a:ext uri="{FF2B5EF4-FFF2-40B4-BE49-F238E27FC236}">
                      <a16:creationId xmlns:a16="http://schemas.microsoft.com/office/drawing/2014/main" id="{5F0930C7-77C3-EBA4-8E6F-BCB20E47E4AD}"/>
                    </a:ext>
                  </a:extLst>
                </p:cNvPr>
                <p:cNvGrpSpPr/>
                <p:nvPr/>
              </p:nvGrpSpPr>
              <p:grpSpPr>
                <a:xfrm>
                  <a:off x="4030917" y="2309236"/>
                  <a:ext cx="2417428" cy="1503425"/>
                  <a:chOff x="4078417" y="2309236"/>
                  <a:chExt cx="2417428" cy="1503425"/>
                </a:xfrm>
              </p:grpSpPr>
              <p:sp>
                <p:nvSpPr>
                  <p:cNvPr id="7" name="テキスト ボックス 6">
                    <a:extLst>
                      <a:ext uri="{FF2B5EF4-FFF2-40B4-BE49-F238E27FC236}">
                        <a16:creationId xmlns:a16="http://schemas.microsoft.com/office/drawing/2014/main" id="{693DD059-1E20-7FF6-37AA-1CA6C24F560C}"/>
                      </a:ext>
                    </a:extLst>
                  </p:cNvPr>
                  <p:cNvSpPr txBox="1"/>
                  <p:nvPr/>
                </p:nvSpPr>
                <p:spPr>
                  <a:xfrm>
                    <a:off x="4204416" y="2309236"/>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F68096F-6552-6AB2-0BCA-6B13C4819271}"/>
                      </a:ext>
                    </a:extLst>
                  </p:cNvPr>
                  <p:cNvSpPr txBox="1"/>
                  <p:nvPr/>
                </p:nvSpPr>
                <p:spPr>
                  <a:xfrm>
                    <a:off x="4133335" y="3174601"/>
                    <a:ext cx="2362510"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セブン利用者数（人）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cxnSp>
                <p:nvCxnSpPr>
                  <p:cNvPr id="10" name="直線コネクタ 9">
                    <a:extLst>
                      <a:ext uri="{FF2B5EF4-FFF2-40B4-BE49-F238E27FC236}">
                        <a16:creationId xmlns:a16="http://schemas.microsoft.com/office/drawing/2014/main" id="{20780F4C-F537-1788-C037-EF4A08F8CA95}"/>
                      </a:ext>
                    </a:extLst>
                  </p:cNvPr>
                  <p:cNvCxnSpPr>
                    <a:cxnSpLocks/>
                  </p:cNvCxnSpPr>
                  <p:nvPr/>
                </p:nvCxnSpPr>
                <p:spPr>
                  <a:xfrm>
                    <a:off x="4078417" y="3048365"/>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1" name="テキスト ボックス 10">
                  <a:extLst>
                    <a:ext uri="{FF2B5EF4-FFF2-40B4-BE49-F238E27FC236}">
                      <a16:creationId xmlns:a16="http://schemas.microsoft.com/office/drawing/2014/main" id="{EC600932-4662-FE95-FDC0-1F2E22202972}"/>
                    </a:ext>
                  </a:extLst>
                </p:cNvPr>
                <p:cNvSpPr txBox="1"/>
                <p:nvPr/>
              </p:nvSpPr>
              <p:spPr>
                <a:xfrm>
                  <a:off x="9417093" y="2910239"/>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12" name="テキスト ボックス 11">
                  <a:extLst>
                    <a:ext uri="{FF2B5EF4-FFF2-40B4-BE49-F238E27FC236}">
                      <a16:creationId xmlns:a16="http://schemas.microsoft.com/office/drawing/2014/main" id="{6D57B2E8-78A7-6485-F392-65034F967C23}"/>
                    </a:ext>
                  </a:extLst>
                </p:cNvPr>
                <p:cNvSpPr txBox="1"/>
                <p:nvPr/>
              </p:nvSpPr>
              <p:spPr>
                <a:xfrm>
                  <a:off x="9856780" y="2902268"/>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nvGrpSpPr>
                <p:cNvPr id="23" name="グループ化 22">
                  <a:extLst>
                    <a:ext uri="{FF2B5EF4-FFF2-40B4-BE49-F238E27FC236}">
                      <a16:creationId xmlns:a16="http://schemas.microsoft.com/office/drawing/2014/main" id="{700ADC1B-3C67-05C6-EAEB-A6B3703E6DAC}"/>
                    </a:ext>
                  </a:extLst>
                </p:cNvPr>
                <p:cNvGrpSpPr/>
                <p:nvPr/>
              </p:nvGrpSpPr>
              <p:grpSpPr>
                <a:xfrm>
                  <a:off x="6988844" y="2310743"/>
                  <a:ext cx="2289432" cy="1507187"/>
                  <a:chOff x="6936455" y="2305474"/>
                  <a:chExt cx="2289432" cy="1507187"/>
                </a:xfrm>
              </p:grpSpPr>
              <p:cxnSp>
                <p:nvCxnSpPr>
                  <p:cNvPr id="17" name="直線コネクタ 16">
                    <a:extLst>
                      <a:ext uri="{FF2B5EF4-FFF2-40B4-BE49-F238E27FC236}">
                        <a16:creationId xmlns:a16="http://schemas.microsoft.com/office/drawing/2014/main" id="{72DA5EBD-16F9-D72A-7EE1-BE25CED165AD}"/>
                      </a:ext>
                    </a:extLst>
                  </p:cNvPr>
                  <p:cNvCxnSpPr>
                    <a:cxnSpLocks/>
                  </p:cNvCxnSpPr>
                  <p:nvPr/>
                </p:nvCxnSpPr>
                <p:spPr>
                  <a:xfrm>
                    <a:off x="6936455" y="3048364"/>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A8333A4-B8B8-D93A-83D7-A2559E486B5D}"/>
                      </a:ext>
                    </a:extLst>
                  </p:cNvPr>
                  <p:cNvSpPr txBox="1"/>
                  <p:nvPr/>
                </p:nvSpPr>
                <p:spPr>
                  <a:xfrm>
                    <a:off x="7095924" y="3174601"/>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6DA98066-14CD-0CB4-75EB-2C118171121E}"/>
                      </a:ext>
                    </a:extLst>
                  </p:cNvPr>
                  <p:cNvSpPr txBox="1"/>
                  <p:nvPr/>
                </p:nvSpPr>
                <p:spPr>
                  <a:xfrm>
                    <a:off x="7134418" y="2305474"/>
                    <a:ext cx="1885038" cy="635046"/>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総数（件）</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grpSp>
            <p:sp>
              <p:nvSpPr>
                <p:cNvPr id="21" name="テキスト ボックス 20">
                  <a:extLst>
                    <a:ext uri="{FF2B5EF4-FFF2-40B4-BE49-F238E27FC236}">
                      <a16:creationId xmlns:a16="http://schemas.microsoft.com/office/drawing/2014/main" id="{EDC65FE8-F026-504F-87BA-BC14B2CE1057}"/>
                    </a:ext>
                  </a:extLst>
                </p:cNvPr>
                <p:cNvSpPr txBox="1"/>
                <p:nvPr/>
              </p:nvSpPr>
              <p:spPr>
                <a:xfrm>
                  <a:off x="6429893" y="2920975"/>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sp>
            <p:nvSpPr>
              <p:cNvPr id="27" name="テキスト ボックス 26">
                <a:extLst>
                  <a:ext uri="{FF2B5EF4-FFF2-40B4-BE49-F238E27FC236}">
                    <a16:creationId xmlns:a16="http://schemas.microsoft.com/office/drawing/2014/main" id="{A0BC605B-3069-0F0E-3E40-DF4CD0490AAC}"/>
                  </a:ext>
                </a:extLst>
              </p:cNvPr>
              <p:cNvSpPr txBox="1"/>
              <p:nvPr/>
            </p:nvSpPr>
            <p:spPr>
              <a:xfrm>
                <a:off x="4684822" y="3865586"/>
                <a:ext cx="1991687" cy="413639"/>
              </a:xfrm>
              <a:prstGeom prst="rect">
                <a:avLst/>
              </a:prstGeom>
              <a:noFill/>
            </p:spPr>
            <p:txBody>
              <a:bodyPr wrap="square">
                <a:spAutoFit/>
              </a:bodyPr>
              <a:lstStyle/>
              <a:p>
                <a:pPr algn="ctr">
                  <a:lnSpc>
                    <a:spcPts val="27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endParaRPr kumimoji="1" lang="en-US" altLang="ja-JP" sz="1600" spc="30" dirty="0">
                  <a:solidFill>
                    <a:srgbClr val="5485C4"/>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1833560C-C447-0347-6EA6-072B70B42BB5}"/>
                  </a:ext>
                </a:extLst>
              </p:cNvPr>
              <p:cNvSpPr txBox="1"/>
              <p:nvPr/>
            </p:nvSpPr>
            <p:spPr>
              <a:xfrm>
                <a:off x="7211617" y="3865586"/>
                <a:ext cx="2819554" cy="413639"/>
              </a:xfrm>
              <a:prstGeom prst="rect">
                <a:avLst/>
              </a:prstGeom>
              <a:noFill/>
            </p:spPr>
            <p:txBody>
              <a:bodyPr wrap="square">
                <a:spAutoFit/>
              </a:bodyPr>
              <a:lstStyle/>
              <a:p>
                <a:pPr algn="ctr">
                  <a:lnSpc>
                    <a:spcPts val="27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endParaRPr kumimoji="1" lang="en-US" altLang="ja-JP" sz="1600" spc="30" dirty="0">
                  <a:solidFill>
                    <a:srgbClr val="C675A6"/>
                  </a:solidFill>
                  <a:latin typeface="源ノ角ゴシック JP" panose="020B0500000000000000" pitchFamily="34" charset="-128"/>
                  <a:ea typeface="源ノ角ゴシック JP" panose="020B0500000000000000" pitchFamily="34" charset="-128"/>
                </a:endParaRPr>
              </a:p>
            </p:txBody>
          </p:sp>
        </p:grpSp>
      </p:grpSp>
      <p:grpSp>
        <p:nvGrpSpPr>
          <p:cNvPr id="38" name="グループ化 37">
            <a:extLst>
              <a:ext uri="{FF2B5EF4-FFF2-40B4-BE49-F238E27FC236}">
                <a16:creationId xmlns:a16="http://schemas.microsoft.com/office/drawing/2014/main" id="{A1113CF1-3B1F-7ACD-144D-FF6C54ABAD34}"/>
              </a:ext>
            </a:extLst>
          </p:cNvPr>
          <p:cNvGrpSpPr/>
          <p:nvPr/>
        </p:nvGrpSpPr>
        <p:grpSpPr>
          <a:xfrm>
            <a:off x="6428300" y="4677859"/>
            <a:ext cx="5180867" cy="1700234"/>
            <a:chOff x="6676509" y="4275694"/>
            <a:chExt cx="5180867" cy="1700234"/>
          </a:xfrm>
        </p:grpSpPr>
        <p:sp>
          <p:nvSpPr>
            <p:cNvPr id="32" name="正方形/長方形 31">
              <a:extLst>
                <a:ext uri="{FF2B5EF4-FFF2-40B4-BE49-F238E27FC236}">
                  <a16:creationId xmlns:a16="http://schemas.microsoft.com/office/drawing/2014/main" id="{9286DD98-9853-43BF-8FFE-208E4E4D9C5A}"/>
                </a:ext>
              </a:extLst>
            </p:cNvPr>
            <p:cNvSpPr/>
            <p:nvPr/>
          </p:nvSpPr>
          <p:spPr>
            <a:xfrm>
              <a:off x="6676509" y="4696210"/>
              <a:ext cx="2751496" cy="901026"/>
            </a:xfrm>
            <a:prstGeom prst="rect">
              <a:avLst/>
            </a:prstGeom>
            <a:solidFill>
              <a:srgbClr val="5485C4">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7DE72FFE-65DD-CDD8-DA38-F23AE08E61B6}"/>
                </a:ext>
              </a:extLst>
            </p:cNvPr>
            <p:cNvSpPr/>
            <p:nvPr/>
          </p:nvSpPr>
          <p:spPr>
            <a:xfrm>
              <a:off x="9428005" y="4696690"/>
              <a:ext cx="1135736" cy="900545"/>
            </a:xfrm>
            <a:prstGeom prst="rect">
              <a:avLst/>
            </a:prstGeom>
            <a:solidFill>
              <a:srgbClr val="C675A6">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F22BBC9-4A26-2A25-4A0C-3F8921991064}"/>
                </a:ext>
              </a:extLst>
            </p:cNvPr>
            <p:cNvSpPr txBox="1"/>
            <p:nvPr/>
          </p:nvSpPr>
          <p:spPr>
            <a:xfrm>
              <a:off x="6688661" y="5597235"/>
              <a:ext cx="2727191" cy="378693"/>
            </a:xfrm>
            <a:prstGeom prst="rect">
              <a:avLst/>
            </a:prstGeom>
            <a:noFill/>
          </p:spPr>
          <p:txBody>
            <a:bodyPr wrap="square">
              <a:spAutoFit/>
            </a:bodyPr>
            <a:lstStyle/>
            <a:p>
              <a:pPr algn="ctr">
                <a:lnSpc>
                  <a:spcPts val="2480"/>
                </a:lnSpc>
                <a:defRPr/>
              </a:pP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27325B1A-3C88-F957-3180-427896679FB5}"/>
                </a:ext>
              </a:extLst>
            </p:cNvPr>
            <p:cNvSpPr txBox="1"/>
            <p:nvPr/>
          </p:nvSpPr>
          <p:spPr>
            <a:xfrm>
              <a:off x="8134370" y="4275694"/>
              <a:ext cx="3723006" cy="378693"/>
            </a:xfrm>
            <a:prstGeom prst="rect">
              <a:avLst/>
            </a:prstGeom>
            <a:noFill/>
          </p:spPr>
          <p:txBody>
            <a:bodyPr wrap="square">
              <a:spAutoFit/>
            </a:bodyPr>
            <a:lstStyle/>
            <a:p>
              <a:pPr algn="ctr">
                <a:lnSpc>
                  <a:spcPts val="2480"/>
                </a:lnSpc>
                <a:defRPr/>
              </a:pP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6" name="テキスト ボックス 35">
              <a:extLst>
                <a:ext uri="{FF2B5EF4-FFF2-40B4-BE49-F238E27FC236}">
                  <a16:creationId xmlns:a16="http://schemas.microsoft.com/office/drawing/2014/main" id="{9742110C-7F5E-1E3D-AC26-7128545477B1}"/>
                </a:ext>
              </a:extLst>
            </p:cNvPr>
            <p:cNvSpPr txBox="1"/>
            <p:nvPr/>
          </p:nvSpPr>
          <p:spPr>
            <a:xfrm>
              <a:off x="7656103"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66.9%</a:t>
              </a:r>
            </a:p>
          </p:txBody>
        </p:sp>
        <p:sp>
          <p:nvSpPr>
            <p:cNvPr id="37" name="テキスト ボックス 36">
              <a:extLst>
                <a:ext uri="{FF2B5EF4-FFF2-40B4-BE49-F238E27FC236}">
                  <a16:creationId xmlns:a16="http://schemas.microsoft.com/office/drawing/2014/main" id="{5A1BD439-1EBD-A2F7-34FB-565F7B203E12}"/>
                </a:ext>
              </a:extLst>
            </p:cNvPr>
            <p:cNvSpPr txBox="1"/>
            <p:nvPr/>
          </p:nvSpPr>
          <p:spPr>
            <a:xfrm>
              <a:off x="9555724"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33.1%</a:t>
              </a:r>
            </a:p>
          </p:txBody>
        </p:sp>
      </p:grpSp>
      <p:grpSp>
        <p:nvGrpSpPr>
          <p:cNvPr id="40" name="グループ化 39">
            <a:extLst>
              <a:ext uri="{FF2B5EF4-FFF2-40B4-BE49-F238E27FC236}">
                <a16:creationId xmlns:a16="http://schemas.microsoft.com/office/drawing/2014/main" id="{C4F3D5A7-C0DD-4D0C-6DA4-1DFDFE6C56F0}"/>
              </a:ext>
            </a:extLst>
          </p:cNvPr>
          <p:cNvGrpSpPr/>
          <p:nvPr/>
        </p:nvGrpSpPr>
        <p:grpSpPr>
          <a:xfrm>
            <a:off x="658631" y="4491442"/>
            <a:ext cx="5465079" cy="1865253"/>
            <a:chOff x="630921" y="4452104"/>
            <a:chExt cx="5465079" cy="1865253"/>
          </a:xfrm>
        </p:grpSpPr>
        <p:sp>
          <p:nvSpPr>
            <p:cNvPr id="31" name="テキスト ボックス 30">
              <a:extLst>
                <a:ext uri="{FF2B5EF4-FFF2-40B4-BE49-F238E27FC236}">
                  <a16:creationId xmlns:a16="http://schemas.microsoft.com/office/drawing/2014/main" id="{829290F6-FB8D-CA83-8CDD-1D6631AC91F6}"/>
                </a:ext>
              </a:extLst>
            </p:cNvPr>
            <p:cNvSpPr txBox="1"/>
            <p:nvPr/>
          </p:nvSpPr>
          <p:spPr>
            <a:xfrm>
              <a:off x="630921" y="4452104"/>
              <a:ext cx="5465079" cy="1019895"/>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シャープレイ分解の結果、</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若年層における</a:t>
              </a:r>
              <a:r>
                <a:rPr kumimoji="1" lang="ja-JP" altLang="en-US" sz="1500" b="1" spc="30">
                  <a:solidFill>
                    <a:srgbClr val="DCD8DC">
                      <a:lumMod val="25000"/>
                    </a:srgbClr>
                  </a:solidFill>
                  <a:latin typeface="源ノ角ゴシック JP" panose="020B0500000000000000" pitchFamily="34" charset="-128"/>
                  <a:ea typeface="源ノ角ゴシック JP" panose="020B0500000000000000" pitchFamily="34" charset="-128"/>
                </a:rPr>
                <a:t>購買記録数の少なさ</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は、</a:t>
              </a: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に強く起因することが示された</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9" name="テキスト ボックス 38">
              <a:extLst>
                <a:ext uri="{FF2B5EF4-FFF2-40B4-BE49-F238E27FC236}">
                  <a16:creationId xmlns:a16="http://schemas.microsoft.com/office/drawing/2014/main" id="{44F17ABF-2489-6225-575E-D084151FBFDA}"/>
                </a:ext>
              </a:extLst>
            </p:cNvPr>
            <p:cNvSpPr txBox="1"/>
            <p:nvPr/>
          </p:nvSpPr>
          <p:spPr>
            <a:xfrm>
              <a:off x="630921" y="5618063"/>
              <a:ext cx="4730787" cy="699294"/>
            </a:xfrm>
            <a:prstGeom prst="rect">
              <a:avLst/>
            </a:prstGeom>
            <a:noFill/>
          </p:spPr>
          <p:txBody>
            <a:bodyPr wrap="square">
              <a:spAutoFit/>
            </a:bodyPr>
            <a:lstStyle/>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→「商品を購入した経験のある人が少ないこと」が　　</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　</a:t>
              </a:r>
              <a:r>
                <a:rPr kumimoji="1" lang="en-US" altLang="ja-JP" sz="15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主要なボトルネックである</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906261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294C5EE-A403-B388-3FD2-C483314F4E88}"/>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3" name="グループ化 12">
            <a:extLst>
              <a:ext uri="{FF2B5EF4-FFF2-40B4-BE49-F238E27FC236}">
                <a16:creationId xmlns:a16="http://schemas.microsoft.com/office/drawing/2014/main" id="{99CE572E-1670-BB59-CB3C-88899EDC8DBA}"/>
              </a:ext>
            </a:extLst>
          </p:cNvPr>
          <p:cNvGrpSpPr/>
          <p:nvPr/>
        </p:nvGrpSpPr>
        <p:grpSpPr>
          <a:xfrm>
            <a:off x="710731" y="1161733"/>
            <a:ext cx="8449035" cy="1017623"/>
            <a:chOff x="710731" y="1145967"/>
            <a:chExt cx="8449035" cy="1017623"/>
          </a:xfrm>
        </p:grpSpPr>
        <p:sp>
          <p:nvSpPr>
            <p:cNvPr id="3" name="テキスト ボックス 2">
              <a:extLst>
                <a:ext uri="{FF2B5EF4-FFF2-40B4-BE49-F238E27FC236}">
                  <a16:creationId xmlns:a16="http://schemas.microsoft.com/office/drawing/2014/main" id="{1EE779C9-3058-7995-FDD2-FCB6FFF60CCB}"/>
                </a:ext>
              </a:extLst>
            </p:cNvPr>
            <p:cNvSpPr txBox="1"/>
            <p:nvPr/>
          </p:nvSpPr>
          <p:spPr>
            <a:xfrm>
              <a:off x="710733" y="1145967"/>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シャープレイ分解の計算方法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62E72817-0727-A600-6A35-D279BEDEFD79}"/>
                </a:ext>
              </a:extLst>
            </p:cNvPr>
            <p:cNvSpPr txBox="1"/>
            <p:nvPr/>
          </p:nvSpPr>
          <p:spPr>
            <a:xfrm>
              <a:off x="710731" y="1531622"/>
              <a:ext cx="8449035" cy="631968"/>
            </a:xfrm>
            <a:prstGeom prst="rect">
              <a:avLst/>
            </a:prstGeom>
            <a:noFill/>
          </p:spPr>
          <p:txBody>
            <a:bodyPr wrap="square">
              <a:spAutoFit/>
            </a:bodyPr>
            <a:lstStyle/>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代）と中高年層（男女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40–50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代）の二群比較をベースに、</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u="sng" spc="50">
                  <a:solidFill>
                    <a:srgbClr val="DCD8DC">
                      <a:lumMod val="25000"/>
                    </a:srgbClr>
                  </a:solidFill>
                  <a:latin typeface="源ノ角ゴシック JP" panose="020B0500000000000000" pitchFamily="34" charset="-128"/>
                  <a:ea typeface="源ノ角ゴシック JP" panose="020B0500000000000000" pitchFamily="34" charset="-128"/>
                </a:rPr>
                <a:t>購買記録数への寄与量</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をそれぞれ以下の式に基づいて計算する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2" name="グループ化 11">
            <a:extLst>
              <a:ext uri="{FF2B5EF4-FFF2-40B4-BE49-F238E27FC236}">
                <a16:creationId xmlns:a16="http://schemas.microsoft.com/office/drawing/2014/main" id="{4A3D4CF4-3F87-F64F-7E05-D3868E31E0E8}"/>
              </a:ext>
            </a:extLst>
          </p:cNvPr>
          <p:cNvGrpSpPr/>
          <p:nvPr/>
        </p:nvGrpSpPr>
        <p:grpSpPr>
          <a:xfrm>
            <a:off x="348635" y="2603992"/>
            <a:ext cx="11289818" cy="1915459"/>
            <a:chOff x="348635" y="2430566"/>
            <a:chExt cx="11289818" cy="1915459"/>
          </a:xfrm>
        </p:grpSpPr>
        <p:sp>
          <p:nvSpPr>
            <p:cNvPr id="6" name="テキスト ボックス 5">
              <a:extLst>
                <a:ext uri="{FF2B5EF4-FFF2-40B4-BE49-F238E27FC236}">
                  <a16:creationId xmlns:a16="http://schemas.microsoft.com/office/drawing/2014/main" id="{32FF6AFD-2DF9-B870-FD1E-411CDCCFDA0C}"/>
                </a:ext>
              </a:extLst>
            </p:cNvPr>
            <p:cNvSpPr txBox="1"/>
            <p:nvPr/>
          </p:nvSpPr>
          <p:spPr>
            <a:xfrm>
              <a:off x="734107" y="2430567"/>
              <a:ext cx="3371412" cy="333617"/>
            </a:xfrm>
            <a:prstGeom prst="rect">
              <a:avLst/>
            </a:prstGeom>
            <a:noFill/>
          </p:spPr>
          <p:txBody>
            <a:bodyPr wrap="square">
              <a:spAutoFit/>
            </a:bodyPr>
            <a:lstStyle/>
            <a:p>
              <a:pPr>
                <a:lnSpc>
                  <a:spcPts val="19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CB76C2F7-51BB-2D10-5CEA-57DED7D62F49}"/>
                    </a:ext>
                  </a:extLst>
                </p:cNvPr>
                <p:cNvSpPr txBox="1"/>
                <p:nvPr/>
              </p:nvSpPr>
              <p:spPr>
                <a:xfrm>
                  <a:off x="348635"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l-GR" altLang="ja-JP" sz="2800" i="1" smtClean="0">
                                <a:latin typeface="Cambria Math" panose="02040503050406030204" pitchFamily="18" charset="0"/>
                                <a:ea typeface="Cambria Math" panose="02040503050406030204" pitchFamily="18" charset="0"/>
                              </a:rPr>
                              <m:t>𝛲</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8" name="テキスト ボックス 7">
                  <a:extLst>
                    <a:ext uri="{FF2B5EF4-FFF2-40B4-BE49-F238E27FC236}">
                      <a16:creationId xmlns:a16="http://schemas.microsoft.com/office/drawing/2014/main" id="{CB76C2F7-51BB-2D10-5CEA-57DED7D62F49}"/>
                    </a:ext>
                  </a:extLst>
                </p:cNvPr>
                <p:cNvSpPr txBox="1">
                  <a:spLocks noRot="1" noChangeAspect="1" noMove="1" noResize="1" noEditPoints="1" noAdjustHandles="1" noChangeArrowheads="1" noChangeShapeType="1" noTextEdit="1"/>
                </p:cNvSpPr>
                <p:nvPr/>
              </p:nvSpPr>
              <p:spPr>
                <a:xfrm>
                  <a:off x="348635" y="2949635"/>
                  <a:ext cx="5825067" cy="803810"/>
                </a:xfrm>
                <a:prstGeom prst="rect">
                  <a:avLst/>
                </a:prstGeom>
                <a:blipFill>
                  <a:blip r:embed="rId3"/>
                  <a:stretch>
                    <a:fillRect b="-1384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605A1D83-2F2D-7F1E-16B2-6D8D5B83ABE4}"/>
                    </a:ext>
                  </a:extLst>
                </p:cNvPr>
                <p:cNvSpPr txBox="1"/>
                <p:nvPr/>
              </p:nvSpPr>
              <p:spPr>
                <a:xfrm>
                  <a:off x="5813386"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n-US" altLang="ja-JP" sz="2800" b="0" i="1" smtClean="0">
                                <a:latin typeface="Cambria Math" panose="02040503050406030204" pitchFamily="18" charset="0"/>
                              </a:rPr>
                              <m:t>𝑇</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9" name="テキスト ボックス 8">
                  <a:extLst>
                    <a:ext uri="{FF2B5EF4-FFF2-40B4-BE49-F238E27FC236}">
                      <a16:creationId xmlns:a16="http://schemas.microsoft.com/office/drawing/2014/main" id="{605A1D83-2F2D-7F1E-16B2-6D8D5B83ABE4}"/>
                    </a:ext>
                  </a:extLst>
                </p:cNvPr>
                <p:cNvSpPr txBox="1">
                  <a:spLocks noRot="1" noChangeAspect="1" noMove="1" noResize="1" noEditPoints="1" noAdjustHandles="1" noChangeArrowheads="1" noChangeShapeType="1" noTextEdit="1"/>
                </p:cNvSpPr>
                <p:nvPr/>
              </p:nvSpPr>
              <p:spPr>
                <a:xfrm>
                  <a:off x="5813386" y="2949635"/>
                  <a:ext cx="5825067" cy="803810"/>
                </a:xfrm>
                <a:prstGeom prst="rect">
                  <a:avLst/>
                </a:prstGeom>
                <a:blipFill>
                  <a:blip r:embed="rId4"/>
                  <a:stretch>
                    <a:fillRect b="-13846"/>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AE33F40-9969-E5C0-6599-470B5DAF6239}"/>
                </a:ext>
              </a:extLst>
            </p:cNvPr>
            <p:cNvSpPr txBox="1"/>
            <p:nvPr/>
          </p:nvSpPr>
          <p:spPr>
            <a:xfrm>
              <a:off x="6173701" y="2430566"/>
              <a:ext cx="4294601" cy="333617"/>
            </a:xfrm>
            <a:prstGeom prst="rect">
              <a:avLst/>
            </a:prstGeom>
            <a:noFill/>
          </p:spPr>
          <p:txBody>
            <a:bodyPr wrap="square">
              <a:spAutoFit/>
            </a:bodyPr>
            <a:lstStyle/>
            <a:p>
              <a:pPr>
                <a:lnSpc>
                  <a:spcPts val="19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C0E07043-44B7-27B5-F652-FF9CD290B3FA}"/>
                </a:ext>
              </a:extLst>
            </p:cNvPr>
            <p:cNvSpPr txBox="1"/>
            <p:nvPr/>
          </p:nvSpPr>
          <p:spPr>
            <a:xfrm>
              <a:off x="962978" y="3996186"/>
              <a:ext cx="8449035" cy="349839"/>
            </a:xfrm>
            <a:prstGeom prst="rect">
              <a:avLst/>
            </a:prstGeom>
            <a:noFill/>
          </p:spPr>
          <p:txBody>
            <a:bodyPr wrap="square">
              <a:spAutoFit/>
            </a:bodyPr>
            <a:lstStyle/>
            <a:p>
              <a:pPr>
                <a:lnSpc>
                  <a:spcPts val="2180"/>
                </a:lnSpc>
                <a:defRPr/>
              </a:pP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Y</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、中高年層を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C</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P</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5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とする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E2F43ADA-7F8F-4CA4-54D5-F0C5E6B77778}"/>
              </a:ext>
            </a:extLst>
          </p:cNvPr>
          <p:cNvGrpSpPr/>
          <p:nvPr/>
        </p:nvGrpSpPr>
        <p:grpSpPr>
          <a:xfrm>
            <a:off x="694965" y="5008254"/>
            <a:ext cx="11184571" cy="1309844"/>
            <a:chOff x="694965" y="4913660"/>
            <a:chExt cx="11184571" cy="1309844"/>
          </a:xfrm>
        </p:grpSpPr>
        <p:sp>
          <p:nvSpPr>
            <p:cNvPr id="15" name="テキスト ボックス 14">
              <a:extLst>
                <a:ext uri="{FF2B5EF4-FFF2-40B4-BE49-F238E27FC236}">
                  <a16:creationId xmlns:a16="http://schemas.microsoft.com/office/drawing/2014/main" id="{57860C3A-15F0-D9F8-6761-A253900CD581}"/>
                </a:ext>
              </a:extLst>
            </p:cNvPr>
            <p:cNvSpPr txBox="1"/>
            <p:nvPr/>
          </p:nvSpPr>
          <p:spPr>
            <a:xfrm>
              <a:off x="734107" y="4913660"/>
              <a:ext cx="3561725" cy="333617"/>
            </a:xfrm>
            <a:prstGeom prst="rect">
              <a:avLst/>
            </a:prstGeom>
            <a:noFill/>
          </p:spPr>
          <p:txBody>
            <a:bodyPr wrap="square">
              <a:spAutoFit/>
            </a:bodyPr>
            <a:lstStyle/>
            <a:p>
              <a:pPr>
                <a:lnSpc>
                  <a:spcPts val="19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実際の計算では、以下のようになる</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746D8DEF-4FF9-0881-3180-B05315D5D5F3}"/>
                </a:ext>
              </a:extLst>
            </p:cNvPr>
            <p:cNvGrpSpPr/>
            <p:nvPr/>
          </p:nvGrpSpPr>
          <p:grpSpPr>
            <a:xfrm>
              <a:off x="694965" y="5377760"/>
              <a:ext cx="11184571" cy="845744"/>
              <a:chOff x="694965" y="5377760"/>
              <a:chExt cx="11184571" cy="845744"/>
            </a:xfrm>
          </p:grpSpPr>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16A385A5-9380-84A5-37C3-3AD18399E79C}"/>
                      </a:ext>
                    </a:extLst>
                  </p:cNvPr>
                  <p:cNvSpPr txBox="1"/>
                  <p:nvPr/>
                </p:nvSpPr>
                <p:spPr>
                  <a:xfrm>
                    <a:off x="710731" y="5377761"/>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0.00133</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0.00096</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1.466</m:t>
                              </m:r>
                              <m:r>
                                <a:rPr kumimoji="1" lang="en-US" altLang="ja-JP" sz="1900" b="0" i="1" smtClean="0">
                                  <a:latin typeface="Cambria Math" panose="02040503050406030204" pitchFamily="18" charset="0"/>
                                  <a:ea typeface="Cambria Math" panose="02040503050406030204" pitchFamily="18" charset="0"/>
                                </a:rPr>
                                <m:t>+1.251</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en-US" altLang="ja-JP" sz="1900" dirty="0"/>
                  </a:p>
                </p:txBody>
              </p:sp>
            </mc:Choice>
            <mc:Fallback>
              <p:sp>
                <p:nvSpPr>
                  <p:cNvPr id="14" name="テキスト ボックス 13">
                    <a:extLst>
                      <a:ext uri="{FF2B5EF4-FFF2-40B4-BE49-F238E27FC236}">
                        <a16:creationId xmlns:a16="http://schemas.microsoft.com/office/drawing/2014/main" id="{16A385A5-9380-84A5-37C3-3AD18399E79C}"/>
                      </a:ext>
                    </a:extLst>
                  </p:cNvPr>
                  <p:cNvSpPr txBox="1">
                    <a:spLocks noRot="1" noChangeAspect="1" noMove="1" noResize="1" noEditPoints="1" noAdjustHandles="1" noChangeArrowheads="1" noChangeShapeType="1" noTextEdit="1"/>
                  </p:cNvSpPr>
                  <p:nvPr/>
                </p:nvSpPr>
                <p:spPr>
                  <a:xfrm>
                    <a:off x="710731" y="5377761"/>
                    <a:ext cx="5705835" cy="553357"/>
                  </a:xfrm>
                  <a:prstGeom prst="rect">
                    <a:avLst/>
                  </a:prstGeom>
                  <a:blipFill>
                    <a:blip r:embed="rId5"/>
                    <a:stretch>
                      <a:fillRect t="-4545"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6" name="テキスト ボックス 15">
                    <a:extLst>
                      <a:ext uri="{FF2B5EF4-FFF2-40B4-BE49-F238E27FC236}">
                        <a16:creationId xmlns:a16="http://schemas.microsoft.com/office/drawing/2014/main" id="{EAB43C90-B341-7460-3140-7BFD7AF3CE05}"/>
                      </a:ext>
                    </a:extLst>
                  </p:cNvPr>
                  <p:cNvSpPr txBox="1"/>
                  <p:nvPr/>
                </p:nvSpPr>
                <p:spPr>
                  <a:xfrm>
                    <a:off x="6173701" y="5377760"/>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1.466</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1.251</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0.00133+0.00096</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ja-JP" altLang="en-US" sz="1900"/>
                  </a:p>
                </p:txBody>
              </p:sp>
            </mc:Choice>
            <mc:Fallback>
              <p:sp>
                <p:nvSpPr>
                  <p:cNvPr id="16" name="テキスト ボックス 15">
                    <a:extLst>
                      <a:ext uri="{FF2B5EF4-FFF2-40B4-BE49-F238E27FC236}">
                        <a16:creationId xmlns:a16="http://schemas.microsoft.com/office/drawing/2014/main" id="{EAB43C90-B341-7460-3140-7BFD7AF3CE05}"/>
                      </a:ext>
                    </a:extLst>
                  </p:cNvPr>
                  <p:cNvSpPr txBox="1">
                    <a:spLocks noRot="1" noChangeAspect="1" noMove="1" noResize="1" noEditPoints="1" noAdjustHandles="1" noChangeArrowheads="1" noChangeShapeType="1" noTextEdit="1"/>
                  </p:cNvSpPr>
                  <p:nvPr/>
                </p:nvSpPr>
                <p:spPr>
                  <a:xfrm>
                    <a:off x="6173701" y="5377760"/>
                    <a:ext cx="5705835" cy="553357"/>
                  </a:xfrm>
                  <a:prstGeom prst="rect">
                    <a:avLst/>
                  </a:prstGeom>
                  <a:blipFill>
                    <a:blip r:embed="rId6"/>
                    <a:stretch>
                      <a:fillRect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0BBF1213-B54F-A0F3-D3E4-F1EFF7BCEF1A}"/>
                      </a:ext>
                    </a:extLst>
                  </p:cNvPr>
                  <p:cNvSpPr txBox="1"/>
                  <p:nvPr/>
                </p:nvSpPr>
                <p:spPr>
                  <a:xfrm>
                    <a:off x="694965" y="5638729"/>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0.498</m:t>
                          </m:r>
                        </m:oMath>
                      </m:oMathPara>
                    </a14:m>
                    <a:endParaRPr kumimoji="1" lang="en-US" altLang="ja-JP" sz="1900" dirty="0"/>
                  </a:p>
                </p:txBody>
              </p:sp>
            </mc:Choice>
            <mc:Fallback>
              <p:sp>
                <p:nvSpPr>
                  <p:cNvPr id="17" name="テキスト ボックス 16">
                    <a:extLst>
                      <a:ext uri="{FF2B5EF4-FFF2-40B4-BE49-F238E27FC236}">
                        <a16:creationId xmlns:a16="http://schemas.microsoft.com/office/drawing/2014/main" id="{0BBF1213-B54F-A0F3-D3E4-F1EFF7BCEF1A}"/>
                      </a:ext>
                    </a:extLst>
                  </p:cNvPr>
                  <p:cNvSpPr txBox="1">
                    <a:spLocks noRot="1" noChangeAspect="1" noMove="1" noResize="1" noEditPoints="1" noAdjustHandles="1" noChangeArrowheads="1" noChangeShapeType="1" noTextEdit="1"/>
                  </p:cNvSpPr>
                  <p:nvPr/>
                </p:nvSpPr>
                <p:spPr>
                  <a:xfrm>
                    <a:off x="694965" y="5638729"/>
                    <a:ext cx="2426608" cy="584775"/>
                  </a:xfrm>
                  <a:prstGeom prst="rect">
                    <a:avLst/>
                  </a:prstGeom>
                  <a:blipFill>
                    <a:blip r:embed="rId7"/>
                    <a:stretch>
                      <a:fillRect b="-425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DD9E500B-E34D-B37C-5F67-6093A5CE4300}"/>
                      </a:ext>
                    </a:extLst>
                  </p:cNvPr>
                  <p:cNvSpPr txBox="1"/>
                  <p:nvPr/>
                </p:nvSpPr>
                <p:spPr>
                  <a:xfrm>
                    <a:off x="6157935" y="5638728"/>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0.247</m:t>
                          </m:r>
                        </m:oMath>
                      </m:oMathPara>
                    </a14:m>
                    <a:endParaRPr kumimoji="1" lang="en-US" altLang="ja-JP" sz="1900" dirty="0"/>
                  </a:p>
                </p:txBody>
              </p:sp>
            </mc:Choice>
            <mc:Fallback>
              <p:sp>
                <p:nvSpPr>
                  <p:cNvPr id="18" name="テキスト ボックス 17">
                    <a:extLst>
                      <a:ext uri="{FF2B5EF4-FFF2-40B4-BE49-F238E27FC236}">
                        <a16:creationId xmlns:a16="http://schemas.microsoft.com/office/drawing/2014/main" id="{DD9E500B-E34D-B37C-5F67-6093A5CE4300}"/>
                      </a:ext>
                    </a:extLst>
                  </p:cNvPr>
                  <p:cNvSpPr txBox="1">
                    <a:spLocks noRot="1" noChangeAspect="1" noMove="1" noResize="1" noEditPoints="1" noAdjustHandles="1" noChangeArrowheads="1" noChangeShapeType="1" noTextEdit="1"/>
                  </p:cNvSpPr>
                  <p:nvPr/>
                </p:nvSpPr>
                <p:spPr>
                  <a:xfrm>
                    <a:off x="6157935" y="5638728"/>
                    <a:ext cx="2426608" cy="584775"/>
                  </a:xfrm>
                  <a:prstGeom prst="rect">
                    <a:avLst/>
                  </a:prstGeom>
                  <a:blipFill>
                    <a:blip r:embed="rId8"/>
                    <a:stretch>
                      <a:fillRect b="-4255"/>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2167526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ボックス 16">
            <a:extLst>
              <a:ext uri="{FF2B5EF4-FFF2-40B4-BE49-F238E27FC236}">
                <a16:creationId xmlns:a16="http://schemas.microsoft.com/office/drawing/2014/main" id="{CDF66119-FBE3-5057-D226-4D6C9DE25733}"/>
              </a:ext>
            </a:extLst>
          </p:cNvPr>
          <p:cNvSpPr txBox="1"/>
          <p:nvPr/>
        </p:nvSpPr>
        <p:spPr>
          <a:xfrm>
            <a:off x="882731" y="5902176"/>
            <a:ext cx="4665318" cy="651332"/>
          </a:xfrm>
          <a:prstGeom prst="rect">
            <a:avLst/>
          </a:prstGeom>
          <a:noFill/>
        </p:spPr>
        <p:txBody>
          <a:bodyPr wrap="square">
            <a:spAutoFit/>
          </a:bodyPr>
          <a:lstStyle/>
          <a:p>
            <a:pPr>
              <a:lnSpc>
                <a:spcPts val="2280"/>
              </a:lnSpc>
              <a:defRPr/>
            </a:pP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「対応」商品を購入した経験のない人は、</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普段から「食事を補う」ような商品を強く求めている</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15B40378-340C-0357-CF75-B5AC4B68C0C8}"/>
              </a:ext>
            </a:extLst>
          </p:cNvPr>
          <p:cNvSpPr txBox="1"/>
          <p:nvPr/>
        </p:nvSpPr>
        <p:spPr>
          <a:xfrm>
            <a:off x="882731" y="5896320"/>
            <a:ext cx="5113518" cy="651332"/>
          </a:xfrm>
          <a:prstGeom prst="rect">
            <a:avLst/>
          </a:prstGeom>
          <a:noFill/>
        </p:spPr>
        <p:txBody>
          <a:bodyPr wrap="square">
            <a:spAutoFit/>
          </a:bodyPr>
          <a:lstStyle/>
          <a:p>
            <a:pPr>
              <a:lnSpc>
                <a:spcPts val="2280"/>
              </a:lnSpc>
              <a:defRPr/>
            </a:pPr>
            <a:r>
              <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rPr>
              <a:t>  </a:t>
            </a:r>
            <a:r>
              <a:rPr kumimoji="1" lang="ja-JP" altLang="en-US" sz="1400" spc="30">
                <a:solidFill>
                  <a:schemeClr val="accent2">
                    <a:lumMod val="75000"/>
                  </a:schemeClr>
                </a:solidFill>
                <a:latin typeface="源ノ角ゴシック JP" panose="020B0500000000000000" pitchFamily="34" charset="-128"/>
                <a:ea typeface="源ノ角ゴシック JP" panose="020B0500000000000000" pitchFamily="34" charset="-128"/>
              </a:rPr>
              <a:t>普段から「食事を補う」ような商品を強く求めている人は「対応」商品を購入していない傾向がある</a:t>
            </a:r>
            <a:endPar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C62BE566-4130-035C-D526-432E2653C6E9}"/>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1E690A7C-3803-21C5-F412-D8A4CCB9F53A}"/>
              </a:ext>
            </a:extLst>
          </p:cNvPr>
          <p:cNvSpPr txBox="1"/>
          <p:nvPr/>
        </p:nvSpPr>
        <p:spPr>
          <a:xfrm>
            <a:off x="643391" y="1014495"/>
            <a:ext cx="10073557" cy="699294"/>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なぜ、若年層では、</a:t>
            </a:r>
            <a:r>
              <a:rPr kumimoji="1" lang="ja-JP" altLang="en-US" sz="1450" u="sng" spc="30">
                <a:solidFill>
                  <a:srgbClr val="DCD8DC">
                    <a:lumMod val="25000"/>
                  </a:srgbClr>
                </a:solidFill>
                <a:latin typeface="源ノ角ゴシック JP" panose="020B0500000000000000" pitchFamily="34" charset="-128"/>
                <a:ea typeface="源ノ角ゴシック JP" panose="020B0500000000000000" pitchFamily="34" charset="-128"/>
              </a:rPr>
              <a:t>「対応」商品を購入した経験のある人が少ないのか</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 若年層の中でも、</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購入経験のある人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と</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ない人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で分けて、志向性の違いを明らかにする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7133E19-1C99-0441-4BE5-FCCF34C302E1}"/>
              </a:ext>
            </a:extLst>
          </p:cNvPr>
          <p:cNvSpPr txBox="1"/>
          <p:nvPr/>
        </p:nvSpPr>
        <p:spPr>
          <a:xfrm>
            <a:off x="658631" y="1812968"/>
            <a:ext cx="5316501" cy="378693"/>
          </a:xfrm>
          <a:prstGeom prst="rect">
            <a:avLst/>
          </a:prstGeom>
          <a:noFill/>
        </p:spPr>
        <p:txBody>
          <a:bodyPr wrap="square">
            <a:spAutoFit/>
          </a:bodyPr>
          <a:lstStyle/>
          <a:p>
            <a:pPr>
              <a:lnSpc>
                <a:spcPts val="2480"/>
              </a:lnSpc>
              <a:defRPr/>
            </a:pPr>
            <a:r>
              <a:rPr kumimoji="1" lang="ja-JP" altLang="en-US" sz="1500" b="1" spc="40">
                <a:solidFill>
                  <a:srgbClr val="DCD8DC">
                    <a:lumMod val="25000"/>
                  </a:srgbClr>
                </a:solidFill>
                <a:latin typeface="源ノ角ゴシック JP" panose="020B0500000000000000" pitchFamily="34" charset="-128"/>
                <a:ea typeface="源ノ角ゴシック JP" panose="020B0500000000000000" pitchFamily="34" charset="-128"/>
              </a:rPr>
              <a:t>普段、どのような食品をセブンイレブンで購入しているか</a:t>
            </a:r>
            <a:endParaRPr kumimoji="1" lang="en-US" altLang="ja-JP" sz="15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E722383B-1D15-3908-F875-9E5F27FCBCCA}"/>
              </a:ext>
            </a:extLst>
          </p:cNvPr>
          <p:cNvSpPr txBox="1"/>
          <p:nvPr/>
        </p:nvSpPr>
        <p:spPr>
          <a:xfrm>
            <a:off x="658631" y="2189798"/>
            <a:ext cx="5113518" cy="651332"/>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・食事補完型：サラダ、スープ、おにぎり、サンドイッチなど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・食事完結型：弁当、丼、うどん、そば、ラーメンなど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E3DC904-310D-8B65-6A8C-89A6B6F98ED7}"/>
              </a:ext>
            </a:extLst>
          </p:cNvPr>
          <p:cNvSpPr txBox="1"/>
          <p:nvPr/>
        </p:nvSpPr>
        <p:spPr>
          <a:xfrm>
            <a:off x="1913079" y="5470616"/>
            <a:ext cx="1110792"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16A0C86C-D8E5-8CE9-8F5A-8269CFEF1865}"/>
              </a:ext>
            </a:extLst>
          </p:cNvPr>
          <p:cNvSpPr txBox="1"/>
          <p:nvPr/>
        </p:nvSpPr>
        <p:spPr>
          <a:xfrm>
            <a:off x="3370108" y="5464760"/>
            <a:ext cx="1302776"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購入未経験群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0" name="正方形/長方形 9">
            <a:extLst>
              <a:ext uri="{FF2B5EF4-FFF2-40B4-BE49-F238E27FC236}">
                <a16:creationId xmlns:a16="http://schemas.microsoft.com/office/drawing/2014/main" id="{0E19B149-6C75-7AD4-0448-938A347CB78F}"/>
              </a:ext>
            </a:extLst>
          </p:cNvPr>
          <p:cNvSpPr/>
          <p:nvPr/>
        </p:nvSpPr>
        <p:spPr>
          <a:xfrm>
            <a:off x="1700009" y="2974337"/>
            <a:ext cx="3183161" cy="2496572"/>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6C988FF-8CD3-6704-FFAC-2264805402BD}"/>
              </a:ext>
            </a:extLst>
          </p:cNvPr>
          <p:cNvSpPr txBox="1"/>
          <p:nvPr/>
        </p:nvSpPr>
        <p:spPr>
          <a:xfrm rot="16200000">
            <a:off x="158151" y="3944887"/>
            <a:ext cx="2067806" cy="555473"/>
          </a:xfrm>
          <a:prstGeom prst="rect">
            <a:avLst/>
          </a:prstGeom>
          <a:noFill/>
        </p:spPr>
        <p:txBody>
          <a:bodyPr wrap="square">
            <a:spAutoFit/>
          </a:bodyPr>
          <a:lstStyle/>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食事に関連した購買記録に</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正方形/長方形 11">
            <a:extLst>
              <a:ext uri="{FF2B5EF4-FFF2-40B4-BE49-F238E27FC236}">
                <a16:creationId xmlns:a16="http://schemas.microsoft.com/office/drawing/2014/main" id="{644E1254-5C5D-8A2C-E50B-F7044CA20243}"/>
              </a:ext>
            </a:extLst>
          </p:cNvPr>
          <p:cNvSpPr/>
          <p:nvPr/>
        </p:nvSpPr>
        <p:spPr>
          <a:xfrm>
            <a:off x="7369790" y="2974337"/>
            <a:ext cx="3183161" cy="2500468"/>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B0CC8FE3-6D7C-F17F-5A22-89AABD07806B}"/>
              </a:ext>
            </a:extLst>
          </p:cNvPr>
          <p:cNvSpPr txBox="1"/>
          <p:nvPr/>
        </p:nvSpPr>
        <p:spPr>
          <a:xfrm rot="16200000">
            <a:off x="5875524" y="4066714"/>
            <a:ext cx="2213471" cy="311817"/>
          </a:xfrm>
          <a:prstGeom prst="rect">
            <a:avLst/>
          </a:prstGeom>
          <a:noFill/>
        </p:spPr>
        <p:txBody>
          <a:bodyPr wrap="square">
            <a:spAutoFit/>
          </a:bodyPr>
          <a:lstStyle/>
          <a:p>
            <a:pPr algn="ct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対応商品に占める割合（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95DC864-8835-12DE-A442-9BE8978434DD}"/>
              </a:ext>
            </a:extLst>
          </p:cNvPr>
          <p:cNvSpPr txBox="1"/>
          <p:nvPr/>
        </p:nvSpPr>
        <p:spPr>
          <a:xfrm>
            <a:off x="6708079" y="5467838"/>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セブンイレブン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860A9C85-80EE-9A24-5B0F-744952A534A6}"/>
              </a:ext>
            </a:extLst>
          </p:cNvPr>
          <p:cNvSpPr txBox="1"/>
          <p:nvPr/>
        </p:nvSpPr>
        <p:spPr>
          <a:xfrm>
            <a:off x="8172411" y="5471322"/>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4A99BC6F-17C9-D56B-2E73-B1C38B84922A}"/>
              </a:ext>
            </a:extLst>
          </p:cNvPr>
          <p:cNvSpPr txBox="1"/>
          <p:nvPr/>
        </p:nvSpPr>
        <p:spPr>
          <a:xfrm>
            <a:off x="9636743" y="5474806"/>
            <a:ext cx="1565153"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C64A8F2-B25C-4767-3B81-04E519F0947F}"/>
              </a:ext>
            </a:extLst>
          </p:cNvPr>
          <p:cNvSpPr txBox="1"/>
          <p:nvPr/>
        </p:nvSpPr>
        <p:spPr>
          <a:xfrm>
            <a:off x="7172420" y="5896320"/>
            <a:ext cx="3577899" cy="651332"/>
          </a:xfrm>
          <a:prstGeom prst="rect">
            <a:avLst/>
          </a:prstGeom>
          <a:noFill/>
        </p:spPr>
        <p:txBody>
          <a:bodyPr wrap="square">
            <a:spAutoFit/>
          </a:bodyPr>
          <a:lstStyle/>
          <a:p>
            <a:pPr>
              <a:lnSpc>
                <a:spcPts val="2280"/>
              </a:lnSpc>
              <a:defRPr/>
            </a:pP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セブンイレブンの「対応」商品のうち、</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「食事を補う」ような商品は少ない</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ED15B7A1-D4C8-6E50-3D1F-8E3705FE1BAF}"/>
              </a:ext>
            </a:extLst>
          </p:cNvPr>
          <p:cNvSpPr txBox="1"/>
          <p:nvPr/>
        </p:nvSpPr>
        <p:spPr>
          <a:xfrm>
            <a:off x="6216868" y="1812968"/>
            <a:ext cx="5316501" cy="378693"/>
          </a:xfrm>
          <a:prstGeom prst="rect">
            <a:avLst/>
          </a:prstGeom>
          <a:noFill/>
        </p:spPr>
        <p:txBody>
          <a:bodyPr wrap="square">
            <a:spAutoFit/>
          </a:bodyPr>
          <a:lstStyle/>
          <a:p>
            <a:pPr algn="ctr">
              <a:lnSpc>
                <a:spcPts val="2480"/>
              </a:lnSpc>
              <a:defRPr/>
            </a:pPr>
            <a:r>
              <a:rPr kumimoji="1" lang="ja-JP" altLang="en-US" sz="1500" b="1" spc="6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セブンイレブンにおける「対応」商品の構成割合</a:t>
            </a:r>
            <a:endParaRPr kumimoji="1" lang="en-US" altLang="ja-JP" sz="1500" b="1" spc="6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4" name="テキスト ボックス 23">
            <a:extLst>
              <a:ext uri="{FF2B5EF4-FFF2-40B4-BE49-F238E27FC236}">
                <a16:creationId xmlns:a16="http://schemas.microsoft.com/office/drawing/2014/main" id="{9229F328-04BB-3D06-A099-1654AF4D33B4}"/>
              </a:ext>
            </a:extLst>
          </p:cNvPr>
          <p:cNvSpPr txBox="1"/>
          <p:nvPr/>
        </p:nvSpPr>
        <p:spPr>
          <a:xfrm>
            <a:off x="6617460" y="2189798"/>
            <a:ext cx="5113518"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・食事補完型：濃色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・食事完結型：淡色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406777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500"/>
                                        <p:tgtEl>
                                          <p:spTgt spid="1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12" grpId="0" animBg="1"/>
      <p:bldP spid="13" grpId="0"/>
      <p:bldP spid="14" grpId="0"/>
      <p:bldP spid="15" grpId="0"/>
      <p:bldP spid="16" grpId="0"/>
      <p:bldP spid="18" grpId="0"/>
      <p:bldP spid="23" grpId="0"/>
      <p:bldP spid="24" grpId="0"/>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7424B8D-1EB4-DD93-37FF-9A81588C9546}"/>
              </a:ext>
            </a:extLst>
          </p:cNvPr>
          <p:cNvSpPr txBox="1"/>
          <p:nvPr/>
        </p:nvSpPr>
        <p:spPr>
          <a:xfrm>
            <a:off x="645869" y="1138368"/>
            <a:ext cx="10073557" cy="377155"/>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消費者の志向性と「対応」商品の構成との不一致は、購買記録数の少なさと関連している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正方形/長方形 3">
            <a:extLst>
              <a:ext uri="{FF2B5EF4-FFF2-40B4-BE49-F238E27FC236}">
                <a16:creationId xmlns:a16="http://schemas.microsoft.com/office/drawing/2014/main" id="{850E3BFB-C4BE-1E3E-F6B1-CFA9F4003D98}"/>
              </a:ext>
            </a:extLst>
          </p:cNvPr>
          <p:cNvSpPr/>
          <p:nvPr/>
        </p:nvSpPr>
        <p:spPr>
          <a:xfrm>
            <a:off x="3219823" y="1885522"/>
            <a:ext cx="5752351" cy="3121663"/>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0594B39-8E95-3459-9C42-B4A33B3202A8}"/>
              </a:ext>
            </a:extLst>
          </p:cNvPr>
          <p:cNvSpPr txBox="1"/>
          <p:nvPr/>
        </p:nvSpPr>
        <p:spPr>
          <a:xfrm rot="16200000">
            <a:off x="1714602" y="3288938"/>
            <a:ext cx="2307708"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6432B8C-B74A-4CC0-3695-D4F4ED252A1A}"/>
              </a:ext>
            </a:extLst>
          </p:cNvPr>
          <p:cNvSpPr txBox="1"/>
          <p:nvPr/>
        </p:nvSpPr>
        <p:spPr>
          <a:xfrm>
            <a:off x="4682536" y="5108136"/>
            <a:ext cx="2826924"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食事補完型の割合の群間差（</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993A6522-7A76-B26B-7B51-F1B51B654AEF}"/>
              </a:ext>
            </a:extLst>
          </p:cNvPr>
          <p:cNvSpPr txBox="1"/>
          <p:nvPr/>
        </p:nvSpPr>
        <p:spPr>
          <a:xfrm>
            <a:off x="1472569" y="5662789"/>
            <a:ext cx="9246857" cy="672235"/>
          </a:xfrm>
          <a:prstGeom prst="rect">
            <a:avLst/>
          </a:prstGeom>
          <a:noFill/>
        </p:spPr>
        <p:txBody>
          <a:bodyPr wrap="square">
            <a:spAutoFit/>
          </a:bodyPr>
          <a:lstStyle/>
          <a:p>
            <a:pPr>
              <a:lnSpc>
                <a:spcPts val="2280"/>
              </a:lnSpc>
              <a:defRPr/>
            </a:pP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 横軸の値が大きいほど、購入未経験群が、普段から「食事を補う」ような商品をより強く求めていることを表す→</a:t>
            </a: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言い換えれば、値が大きいほど、消費者の志向性と、「対応」商品の構成が大きく乖離していることを表す</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3B5C89A7-A816-2E95-5564-6E7C1FF1DBC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882911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37770</TotalTime>
  <Words>6050</Words>
  <Application>Microsoft Macintosh PowerPoint</Application>
  <PresentationFormat>ワイド画面</PresentationFormat>
  <Paragraphs>550</Paragraphs>
  <Slides>19</Slides>
  <Notes>14</Notes>
  <HiddenSlides>4</HiddenSlides>
  <MMClips>0</MMClips>
  <ScaleCrop>false</ScaleCrop>
  <HeadingPairs>
    <vt:vector size="6" baseType="variant">
      <vt:variant>
        <vt:lpstr>使用されているフォント</vt:lpstr>
      </vt:variant>
      <vt:variant>
        <vt:i4>8</vt:i4>
      </vt:variant>
      <vt:variant>
        <vt:lpstr>テーマ</vt:lpstr>
      </vt:variant>
      <vt:variant>
        <vt:i4>4</vt:i4>
      </vt:variant>
      <vt:variant>
        <vt:lpstr>スライド タイトル</vt:lpstr>
      </vt:variant>
      <vt:variant>
        <vt:i4>19</vt:i4>
      </vt:variant>
    </vt:vector>
  </HeadingPairs>
  <TitlesOfParts>
    <vt:vector size="31" baseType="lpstr">
      <vt:lpstr>Source Han Sans JP</vt:lpstr>
      <vt:lpstr>源ノ角ゴシック JP</vt:lpstr>
      <vt:lpstr>游ゴシック</vt:lpstr>
      <vt:lpstr>游ゴシック Light</vt:lpstr>
      <vt:lpstr>Arial</vt:lpstr>
      <vt:lpstr>Calibri</vt:lpstr>
      <vt:lpstr>Calibri Light</vt:lpstr>
      <vt:lpstr>Cambria Math</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155</cp:revision>
  <dcterms:created xsi:type="dcterms:W3CDTF">2024-06-06T14:26:30Z</dcterms:created>
  <dcterms:modified xsi:type="dcterms:W3CDTF">2026-09-23T13:49:32Z</dcterms:modified>
</cp:coreProperties>
</file>